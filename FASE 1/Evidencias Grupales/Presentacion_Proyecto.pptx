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4" roundtripDataSignature="AMtx7miGqzAZW2hWBJsHUpFRHSXgB89ZZ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" name="Google Shape;5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" name="Google Shape;8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4" name="Google Shape;16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4" name="Google Shape;19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9" name="Google Shape;22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" name="Google Shape;27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3" name="Google Shape;27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jpg"/><Relationship Id="rId4" Type="http://schemas.openxmlformats.org/officeDocument/2006/relationships/image" Target="../media/image13.jpg"/><Relationship Id="rId5" Type="http://schemas.openxmlformats.org/officeDocument/2006/relationships/image" Target="../media/image10.jpg"/><Relationship Id="rId6" Type="http://schemas.openxmlformats.org/officeDocument/2006/relationships/image" Target="../media/image25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9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15.png"/><Relationship Id="rId7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6.png"/><Relationship Id="rId8" Type="http://schemas.openxmlformats.org/officeDocument/2006/relationships/image" Target="../media/image2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png"/><Relationship Id="rId4" Type="http://schemas.openxmlformats.org/officeDocument/2006/relationships/image" Target="../media/image6.png"/><Relationship Id="rId9" Type="http://schemas.openxmlformats.org/officeDocument/2006/relationships/image" Target="../media/image20.png"/><Relationship Id="rId5" Type="http://schemas.openxmlformats.org/officeDocument/2006/relationships/image" Target="../media/image19.png"/><Relationship Id="rId6" Type="http://schemas.openxmlformats.org/officeDocument/2006/relationships/image" Target="../media/image18.png"/><Relationship Id="rId7" Type="http://schemas.openxmlformats.org/officeDocument/2006/relationships/image" Target="../media/image16.png"/><Relationship Id="rId8" Type="http://schemas.openxmlformats.org/officeDocument/2006/relationships/image" Target="../media/image2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png"/><Relationship Id="rId4" Type="http://schemas.openxmlformats.org/officeDocument/2006/relationships/image" Target="../media/image18.png"/><Relationship Id="rId5" Type="http://schemas.openxmlformats.org/officeDocument/2006/relationships/image" Target="../media/image17.png"/><Relationship Id="rId6" Type="http://schemas.openxmlformats.org/officeDocument/2006/relationships/image" Target="../media/image2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3.png"/><Relationship Id="rId7" Type="http://schemas.openxmlformats.org/officeDocument/2006/relationships/image" Target="../media/image2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4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3.png"/><Relationship Id="rId8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301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-1645920" y="4754880"/>
            <a:ext cx="3657600" cy="36576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400"/>
              <a:buFont typeface="Calibri"/>
              <a:buNone/>
            </a:pPr>
            <a:r>
              <a:rPr b="1" i="0" lang="en-US" sz="290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Agricolix· </a:t>
            </a:r>
            <a:r>
              <a:rPr b="1" i="0" lang="en-US" sz="140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CAPSTONE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22960" y="1097280"/>
            <a:ext cx="98755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Sistema de Gestión Administrativa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para Empresa Agrícola Doña Laura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22960" y="2788920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Aplicación de escritorio que centraliza y digitaliza los procesos administrativos de la empresa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22960" y="3794760"/>
            <a:ext cx="658368" cy="658368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.png" id="22" name="Google Shape;22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9264" y="3941064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1"/>
          <p:cNvSpPr/>
          <p:nvPr/>
        </p:nvSpPr>
        <p:spPr>
          <a:xfrm>
            <a:off x="548640" y="45262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Sebastián Valenzuela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429000" y="3794760"/>
            <a:ext cx="658368" cy="658368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.png" id="25" name="Google Shape;2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304" y="3941064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1"/>
          <p:cNvSpPr/>
          <p:nvPr/>
        </p:nvSpPr>
        <p:spPr>
          <a:xfrm>
            <a:off x="3154680" y="45262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Alex Núñez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6035040" y="3794760"/>
            <a:ext cx="658368" cy="658368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.png" id="28" name="Google Shape;2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81344" y="3941064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1"/>
          <p:cNvSpPr/>
          <p:nvPr/>
        </p:nvSpPr>
        <p:spPr>
          <a:xfrm>
            <a:off x="5760720" y="45262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Alexander vivanco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8641080" y="3794760"/>
            <a:ext cx="658368" cy="658368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.png" id="31" name="Google Shape;31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87384" y="3909064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1"/>
          <p:cNvSpPr/>
          <p:nvPr/>
        </p:nvSpPr>
        <p:spPr>
          <a:xfrm>
            <a:off x="8366760" y="45262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Diego Alvarez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" name="Google Shape;33;p1"/>
          <p:cNvCxnSpPr/>
          <p:nvPr/>
        </p:nvCxnSpPr>
        <p:spPr>
          <a:xfrm>
            <a:off x="822960" y="5349240"/>
            <a:ext cx="10515600" cy="0"/>
          </a:xfrm>
          <a:prstGeom prst="straightConnector1">
            <a:avLst/>
          </a:prstGeom>
          <a:noFill/>
          <a:ln cap="flat" cmpd="sng" w="12700">
            <a:solidFill>
              <a:srgbClr val="2C5F2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" name="Google Shape;34;p1"/>
          <p:cNvSpPr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Profesor guía:  </a:t>
            </a: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Cristian Eduardo Molina Pedernera    </a:t>
            </a:r>
            <a:r>
              <a:rPr b="1" i="0" lang="en-US" sz="11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|  Institución:  </a:t>
            </a: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Duoc UC / Ingeniería en Informática    </a:t>
            </a:r>
            <a:r>
              <a:rPr b="1" i="0" lang="en-US" sz="11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|  Fecha:  </a:t>
            </a: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02/09/2026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1"/>
          <p:cNvSpPr txBox="1"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El contexto: Doña Laura SpA</a:t>
            </a:r>
            <a:endParaRPr/>
          </a:p>
        </p:txBody>
      </p:sp>
      <p:sp>
        <p:nvSpPr>
          <p:cNvPr id="40" name="Google Shape;40;p11"/>
          <p:cNvSpPr txBox="1"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Panquehue, Región de Valparaíso — la zona agrícola donde opera la empresa</a:t>
            </a:r>
            <a:endParaRPr/>
          </a:p>
        </p:txBody>
      </p:sp>
      <p:pic>
        <p:nvPicPr>
          <p:cNvPr descr="WhatsApp_Image_2026-09-01_at_11_44_10_PM.jpeg" id="41" name="Google Shape;41;p11"/>
          <p:cNvPicPr preferRelativeResize="0"/>
          <p:nvPr/>
        </p:nvPicPr>
        <p:blipFill rotWithShape="1">
          <a:blip r:embed="rId3">
            <a:alphaModFix/>
          </a:blip>
          <a:srcRect b="22660" l="0" r="0" t="22660"/>
          <a:stretch/>
        </p:blipFill>
        <p:spPr>
          <a:xfrm>
            <a:off x="548640" y="1645920"/>
            <a:ext cx="5769254" cy="4206240"/>
          </a:xfrm>
          <a:prstGeom prst="rect">
            <a:avLst/>
          </a:prstGeom>
          <a:noFill/>
          <a:ln cap="flat" cmpd="sng" w="317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WhatsApp_Image_2026-09-01_at_11_45_03_PM.jpeg" id="42" name="Google Shape;42;p11"/>
          <p:cNvPicPr preferRelativeResize="0"/>
          <p:nvPr/>
        </p:nvPicPr>
        <p:blipFill rotWithShape="1">
          <a:blip r:embed="rId4">
            <a:alphaModFix/>
          </a:blip>
          <a:srcRect b="40527" l="0" r="0" t="40527"/>
          <a:stretch/>
        </p:blipFill>
        <p:spPr>
          <a:xfrm>
            <a:off x="6455054" y="1645920"/>
            <a:ext cx="5188306" cy="1310640"/>
          </a:xfrm>
          <a:prstGeom prst="rect">
            <a:avLst/>
          </a:prstGeom>
          <a:noFill/>
          <a:ln cap="flat" cmpd="sng" w="317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WhatsApp_Image_2026-09-01_at_11_47_24_PM__1_.jpeg" id="43" name="Google Shape;43;p11"/>
          <p:cNvPicPr preferRelativeResize="0"/>
          <p:nvPr/>
        </p:nvPicPr>
        <p:blipFill rotWithShape="1">
          <a:blip r:embed="rId5">
            <a:alphaModFix/>
          </a:blip>
          <a:srcRect b="42895" l="0" r="0" t="42895"/>
          <a:stretch/>
        </p:blipFill>
        <p:spPr>
          <a:xfrm>
            <a:off x="6455054" y="3093720"/>
            <a:ext cx="5188306" cy="1310640"/>
          </a:xfrm>
          <a:prstGeom prst="rect">
            <a:avLst/>
          </a:prstGeom>
          <a:noFill/>
          <a:ln cap="flat" cmpd="sng" w="317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WhatsApp_Image_2026-09-01_at_11_47_24_PM.jpeg" id="44" name="Google Shape;44;p11"/>
          <p:cNvPicPr preferRelativeResize="0"/>
          <p:nvPr/>
        </p:nvPicPr>
        <p:blipFill rotWithShape="1">
          <a:blip r:embed="rId6">
            <a:alphaModFix/>
          </a:blip>
          <a:srcRect b="40527" l="0" r="0" t="40527"/>
          <a:stretch/>
        </p:blipFill>
        <p:spPr>
          <a:xfrm>
            <a:off x="6455050" y="4541525"/>
            <a:ext cx="5188300" cy="1310622"/>
          </a:xfrm>
          <a:prstGeom prst="rect">
            <a:avLst/>
          </a:prstGeom>
          <a:noFill/>
          <a:ln cap="flat" cmpd="sng" w="317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5" name="Google Shape;45;p11"/>
          <p:cNvSpPr txBox="1"/>
          <p:nvPr/>
        </p:nvSpPr>
        <p:spPr>
          <a:xfrm>
            <a:off x="548640" y="5897880"/>
            <a:ext cx="576925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Valle agrícola de Panquehue — el entorno productivo donde Doña Laura SpA presta sus servicios.</a:t>
            </a:r>
            <a:endParaRPr/>
          </a:p>
        </p:txBody>
      </p:sp>
      <p:sp>
        <p:nvSpPr>
          <p:cNvPr id="46" name="Google Shape;46;p11"/>
          <p:cNvSpPr txBox="1"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/>
          </a:p>
        </p:txBody>
      </p:sp>
      <p:sp>
        <p:nvSpPr>
          <p:cNvPr id="47" name="Google Shape;47;p11"/>
          <p:cNvSpPr txBox="1"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Solución propuesta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548640" y="9144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Aplicación de escritorio que centraliza la gestión administrativa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5038344" y="2971800"/>
            <a:ext cx="2103120" cy="210312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monitor.png" id="56" name="Google Shape;5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05856" y="3246120"/>
            <a:ext cx="768096" cy="768096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2"/>
          <p:cNvSpPr/>
          <p:nvPr/>
        </p:nvSpPr>
        <p:spPr>
          <a:xfrm>
            <a:off x="5129784" y="4069080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SISTEMA DE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GESTIÓN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"/>
          <p:cNvCxnSpPr/>
          <p:nvPr/>
        </p:nvCxnSpPr>
        <p:spPr>
          <a:xfrm>
            <a:off x="5038344" y="2202005"/>
            <a:ext cx="1051560" cy="1821355"/>
          </a:xfrm>
          <a:prstGeom prst="straightConnector1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" name="Google Shape;59;p2"/>
          <p:cNvCxnSpPr/>
          <p:nvPr/>
        </p:nvCxnSpPr>
        <p:spPr>
          <a:xfrm flipH="1" rot="10800000">
            <a:off x="6089904" y="2202005"/>
            <a:ext cx="1051560" cy="1821355"/>
          </a:xfrm>
          <a:prstGeom prst="straightConnector1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" name="Google Shape;60;p2"/>
          <p:cNvCxnSpPr/>
          <p:nvPr/>
        </p:nvCxnSpPr>
        <p:spPr>
          <a:xfrm flipH="1" rot="10800000">
            <a:off x="6047229" y="4037142"/>
            <a:ext cx="2103000" cy="9000"/>
          </a:xfrm>
          <a:prstGeom prst="straightConnector1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1" name="Google Shape;61;p2"/>
          <p:cNvCxnSpPr/>
          <p:nvPr/>
        </p:nvCxnSpPr>
        <p:spPr>
          <a:xfrm>
            <a:off x="6089904" y="4023360"/>
            <a:ext cx="1051560" cy="1821355"/>
          </a:xfrm>
          <a:prstGeom prst="straightConnector1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2" name="Google Shape;62;p2"/>
          <p:cNvCxnSpPr/>
          <p:nvPr/>
        </p:nvCxnSpPr>
        <p:spPr>
          <a:xfrm flipH="1" rot="10800000">
            <a:off x="5038344" y="4023360"/>
            <a:ext cx="1051560" cy="1821355"/>
          </a:xfrm>
          <a:prstGeom prst="straightConnector1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3" name="Google Shape;63;p2"/>
          <p:cNvCxnSpPr/>
          <p:nvPr/>
        </p:nvCxnSpPr>
        <p:spPr>
          <a:xfrm>
            <a:off x="3986784" y="4023360"/>
            <a:ext cx="2103120" cy="9144"/>
          </a:xfrm>
          <a:prstGeom prst="straightConnector1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64" name="Google Shape;64;p2"/>
          <p:cNvSpPr/>
          <p:nvPr/>
        </p:nvSpPr>
        <p:spPr>
          <a:xfrm>
            <a:off x="4672584" y="1836245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tool.png" id="65" name="Google Shape;6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37176" y="200083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2"/>
          <p:cNvSpPr/>
          <p:nvPr/>
        </p:nvSpPr>
        <p:spPr>
          <a:xfrm>
            <a:off x="4261104" y="1424765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Servicios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6775704" y="1836245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s.png" id="68" name="Google Shape;68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940296" y="200083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2"/>
          <p:cNvSpPr/>
          <p:nvPr/>
        </p:nvSpPr>
        <p:spPr>
          <a:xfrm>
            <a:off x="6364224" y="1424765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Clientes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7827264" y="3657600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truck.png" id="71" name="Google Shape;71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91856" y="3822192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"/>
          <p:cNvSpPr/>
          <p:nvPr/>
        </p:nvSpPr>
        <p:spPr>
          <a:xfrm>
            <a:off x="7415784" y="3246120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Vehículos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6775704" y="5478955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dollar.png" id="74" name="Google Shape;74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940296" y="564354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2"/>
          <p:cNvSpPr/>
          <p:nvPr/>
        </p:nvSpPr>
        <p:spPr>
          <a:xfrm>
            <a:off x="6364224" y="6256195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Pagos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4672584" y="5478955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fileText.png" id="77" name="Google Shape;77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837176" y="564354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2"/>
          <p:cNvSpPr/>
          <p:nvPr/>
        </p:nvSpPr>
        <p:spPr>
          <a:xfrm>
            <a:off x="4261104" y="6256195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Contratos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3621024" y="3657600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.png" id="80" name="Google Shape;80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785616" y="3822192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"/>
          <p:cNvSpPr/>
          <p:nvPr/>
        </p:nvSpPr>
        <p:spPr>
          <a:xfrm>
            <a:off x="3209544" y="3246120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Trabajadores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2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Problemática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La información no falta: falta organización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777234" y="2514605"/>
            <a:ext cx="1737300" cy="1828800"/>
          </a:xfrm>
          <a:prstGeom prst="roundRect">
            <a:avLst>
              <a:gd fmla="val 6316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1280154" y="2743205"/>
            <a:ext cx="731400" cy="731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folder.png" id="93" name="Google Shape;9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44746" y="290779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3"/>
          <p:cNvSpPr/>
          <p:nvPr/>
        </p:nvSpPr>
        <p:spPr>
          <a:xfrm>
            <a:off x="822954" y="3566165"/>
            <a:ext cx="164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Información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manual y dispersa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2586603" y="3291845"/>
            <a:ext cx="336000" cy="274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2994654" y="2514605"/>
            <a:ext cx="1737300" cy="1828800"/>
          </a:xfrm>
          <a:prstGeom prst="roundRect">
            <a:avLst>
              <a:gd fmla="val 6316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3497574" y="2743205"/>
            <a:ext cx="731400" cy="731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search.png" id="98" name="Google Shape;98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2166" y="290779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3"/>
          <p:cNvSpPr/>
          <p:nvPr/>
        </p:nvSpPr>
        <p:spPr>
          <a:xfrm>
            <a:off x="3040374" y="3566165"/>
            <a:ext cx="164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6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Difícil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6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de encontrar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4804023" y="3291845"/>
            <a:ext cx="336000" cy="274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5212074" y="2514605"/>
            <a:ext cx="1737300" cy="1828800"/>
          </a:xfrm>
          <a:prstGeom prst="roundRect">
            <a:avLst>
              <a:gd fmla="val 6316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5714994" y="2743205"/>
            <a:ext cx="731400" cy="731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lock.png" id="103" name="Google Shape;10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79586" y="290779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3"/>
          <p:cNvSpPr/>
          <p:nvPr/>
        </p:nvSpPr>
        <p:spPr>
          <a:xfrm>
            <a:off x="5257794" y="3566165"/>
            <a:ext cx="164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7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Más tiempo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7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de gestión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7021443" y="3291845"/>
            <a:ext cx="336000" cy="274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7429494" y="2514605"/>
            <a:ext cx="1737300" cy="1828800"/>
          </a:xfrm>
          <a:prstGeom prst="roundRect">
            <a:avLst>
              <a:gd fmla="val 6316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7932414" y="2743205"/>
            <a:ext cx="731400" cy="731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alert.png" id="108" name="Google Shape;108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7006" y="290779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/>
          <p:nvPr/>
        </p:nvSpPr>
        <p:spPr>
          <a:xfrm>
            <a:off x="7475214" y="3566165"/>
            <a:ext cx="164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7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Errores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7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humanos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9238863" y="3291845"/>
            <a:ext cx="336000" cy="274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9646914" y="2514605"/>
            <a:ext cx="1737300" cy="1828800"/>
          </a:xfrm>
          <a:prstGeom prst="roundRect">
            <a:avLst>
              <a:gd fmla="val 6316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10149834" y="2743205"/>
            <a:ext cx="731400" cy="73140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alertCircle.png" id="113" name="Google Shape;113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14426" y="290779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3"/>
          <p:cNvSpPr/>
          <p:nvPr/>
        </p:nvSpPr>
        <p:spPr>
          <a:xfrm>
            <a:off x="9692634" y="3566165"/>
            <a:ext cx="164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7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Poco control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7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y trazabilidad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786384" y="5623560"/>
            <a:ext cx="10607040" cy="777240"/>
          </a:xfrm>
          <a:prstGeom prst="roundRect">
            <a:avLst>
              <a:gd fmla="val 11765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822960" y="5623560"/>
            <a:ext cx="100584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1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problema central no es la falta de información, sino su falta de organización.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Objetivos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548640" y="960120"/>
            <a:ext cx="10881360" cy="868680"/>
          </a:xfrm>
          <a:prstGeom prst="roundRect">
            <a:avLst>
              <a:gd fmla="val 10526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777240" y="1069848"/>
            <a:ext cx="658368" cy="658368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target.png" id="127" name="Google Shape;12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1207008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4"/>
          <p:cNvSpPr/>
          <p:nvPr/>
        </p:nvSpPr>
        <p:spPr>
          <a:xfrm>
            <a:off x="1600200" y="960120"/>
            <a:ext cx="96469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350"/>
              <a:buFont typeface="Calibri"/>
              <a:buNone/>
            </a:pPr>
            <a:r>
              <a:rPr b="1" i="0" lang="en-US" sz="215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Objetivo general:  </a:t>
            </a:r>
            <a:r>
              <a:rPr b="0" i="0" lang="en-US" sz="2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Desarrollar una aplicación de escritorio que centralice y digitalice la gestión administrativa de la empresa agrícola</a:t>
            </a: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548640" y="2514600"/>
            <a:ext cx="1965960" cy="2606040"/>
          </a:xfrm>
          <a:prstGeom prst="roundRect">
            <a:avLst>
              <a:gd fmla="val 5581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1303020" y="2286000"/>
            <a:ext cx="457200" cy="45720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1303020" y="22860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1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147572" y="292608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lipboard.png" id="133" name="Google Shape;133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21308" y="309981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"/>
          <p:cNvSpPr/>
          <p:nvPr/>
        </p:nvSpPr>
        <p:spPr>
          <a:xfrm>
            <a:off x="621792" y="3886200"/>
            <a:ext cx="1819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6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Levantar y analizar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6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requerimientos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2777490" y="2514600"/>
            <a:ext cx="1965960" cy="2606040"/>
          </a:xfrm>
          <a:prstGeom prst="roundRect">
            <a:avLst>
              <a:gd fmla="val 5581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3531870" y="2286000"/>
            <a:ext cx="457200" cy="45720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3531870" y="22860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1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3376422" y="292608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database.png" id="139" name="Google Shape;139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50158" y="309981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4"/>
          <p:cNvSpPr/>
          <p:nvPr/>
        </p:nvSpPr>
        <p:spPr>
          <a:xfrm>
            <a:off x="2850642" y="3886200"/>
            <a:ext cx="1819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Diseñar la base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de datos relacional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5006340" y="2514600"/>
            <a:ext cx="1965960" cy="2606040"/>
          </a:xfrm>
          <a:prstGeom prst="roundRect">
            <a:avLst>
              <a:gd fmla="val 5581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5760720" y="2286000"/>
            <a:ext cx="457200" cy="45720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5760720" y="22860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1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5605272" y="292608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ode.png" id="145" name="Google Shape;145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79008" y="309981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4"/>
          <p:cNvSpPr/>
          <p:nvPr/>
        </p:nvSpPr>
        <p:spPr>
          <a:xfrm>
            <a:off x="5079492" y="3886200"/>
            <a:ext cx="1819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Desarrollar los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módulos funcionales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7235190" y="2514600"/>
            <a:ext cx="1965960" cy="2606040"/>
          </a:xfrm>
          <a:prstGeom prst="roundRect">
            <a:avLst>
              <a:gd fmla="val 5581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7989570" y="2286000"/>
            <a:ext cx="457200" cy="45720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989570" y="22860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1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834122" y="292608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search.png" id="151" name="Google Shape;151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07858" y="309981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4"/>
          <p:cNvSpPr/>
          <p:nvPr/>
        </p:nvSpPr>
        <p:spPr>
          <a:xfrm>
            <a:off x="7308342" y="3886200"/>
            <a:ext cx="1819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Implementar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búsqueda y reportes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9464040" y="2514600"/>
            <a:ext cx="1965960" cy="2606040"/>
          </a:xfrm>
          <a:prstGeom prst="roundRect">
            <a:avLst>
              <a:gd fmla="val 5581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10218420" y="2286000"/>
            <a:ext cx="457200" cy="45720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10218420" y="22860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1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10062972" y="292608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Check.png" id="157" name="Google Shape;157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236708" y="309981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"/>
          <p:cNvSpPr/>
          <p:nvPr/>
        </p:nvSpPr>
        <p:spPr>
          <a:xfrm>
            <a:off x="9537192" y="3886200"/>
            <a:ext cx="1819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8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Validar con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8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usuarios reales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Metodología de desarrollo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Scrum adaptado a un proyecto individual, con el profesor guía como Product Owner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4722876" y="1708141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lipboard.png" id="169" name="Google Shape;16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96612" y="1881877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5"/>
          <p:cNvSpPr/>
          <p:nvPr/>
        </p:nvSpPr>
        <p:spPr>
          <a:xfrm>
            <a:off x="4375375" y="1159451"/>
            <a:ext cx="1463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5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Levantamiento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6688836" y="1708141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search.png" id="172" name="Google Shape;17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62572" y="1881877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5"/>
          <p:cNvSpPr/>
          <p:nvPr/>
        </p:nvSpPr>
        <p:spPr>
          <a:xfrm>
            <a:off x="6341364" y="1280149"/>
            <a:ext cx="14631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8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Análisis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5"/>
          <p:cNvSpPr/>
          <p:nvPr/>
        </p:nvSpPr>
        <p:spPr>
          <a:xfrm>
            <a:off x="7671816" y="3410712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layout.png" id="175" name="Google Shape;175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845552" y="3584448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5"/>
          <p:cNvSpPr/>
          <p:nvPr/>
        </p:nvSpPr>
        <p:spPr>
          <a:xfrm>
            <a:off x="7324344" y="3017520"/>
            <a:ext cx="1463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2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Diseño</a:t>
            </a:r>
            <a:endParaRPr b="0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6688836" y="5113283"/>
            <a:ext cx="768096" cy="768096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ode.png" id="178" name="Google Shape;178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62572" y="5287019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5"/>
          <p:cNvSpPr/>
          <p:nvPr/>
        </p:nvSpPr>
        <p:spPr>
          <a:xfrm>
            <a:off x="6341364" y="5936243"/>
            <a:ext cx="1463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8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Desarrollo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8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(Sprints</a:t>
            </a: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4722876" y="5113283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heckSquare.png" id="181" name="Google Shape;181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896612" y="5287019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5"/>
          <p:cNvSpPr/>
          <p:nvPr/>
        </p:nvSpPr>
        <p:spPr>
          <a:xfrm>
            <a:off x="4375404" y="5936243"/>
            <a:ext cx="1463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2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Pruebas</a:t>
            </a:r>
            <a:endParaRPr b="0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3739896" y="3410712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Check.png" id="184" name="Google Shape;184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913632" y="3584448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5"/>
          <p:cNvSpPr/>
          <p:nvPr/>
        </p:nvSpPr>
        <p:spPr>
          <a:xfrm>
            <a:off x="3392424" y="3017520"/>
            <a:ext cx="1463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2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Validación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4123944" y="1828800"/>
            <a:ext cx="3931920" cy="3931920"/>
          </a:xfrm>
          <a:prstGeom prst="ellipse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5724144" y="3429000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refresh.png" id="188" name="Google Shape;188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870448" y="3575304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5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6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Tecnologías del proyecto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Combinación simple y liviana, pensada para un desarrollo individual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548640" y="1920240"/>
            <a:ext cx="2468880" cy="3566160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1325880" y="2286000"/>
            <a:ext cx="914400" cy="914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layout.png" id="200" name="Google Shape;20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7048" y="2487168"/>
            <a:ext cx="512064" cy="51206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6"/>
          <p:cNvSpPr/>
          <p:nvPr/>
        </p:nvSpPr>
        <p:spPr>
          <a:xfrm>
            <a:off x="640080" y="33375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Interfaz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640080" y="3703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2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Python + CustomTkinter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685800" y="4160520"/>
            <a:ext cx="21945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Interfaz gráfica de escritorio simple y moderna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3352800" y="1920240"/>
            <a:ext cx="2468880" cy="3566160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4130040" y="2286000"/>
            <a:ext cx="914400" cy="914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ode.png" id="206" name="Google Shape;20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31208" y="2487168"/>
            <a:ext cx="512064" cy="512064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6"/>
          <p:cNvSpPr/>
          <p:nvPr/>
        </p:nvSpPr>
        <p:spPr>
          <a:xfrm>
            <a:off x="3444240" y="33375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Lógica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3444240" y="3703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2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3489960" y="4160520"/>
            <a:ext cx="21945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Un solo lenguaje para toda la aplicación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6156960" y="1920240"/>
            <a:ext cx="2468880" cy="3566160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6934200" y="2286000"/>
            <a:ext cx="914400" cy="914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database.png" id="212" name="Google Shape;21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35368" y="2487168"/>
            <a:ext cx="512064" cy="512064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6"/>
          <p:cNvSpPr/>
          <p:nvPr/>
        </p:nvSpPr>
        <p:spPr>
          <a:xfrm>
            <a:off x="6248400" y="33375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Base de datos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6248400" y="3703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27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SQLite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6294120" y="4160520"/>
            <a:ext cx="21945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Motor liviano, sin instalación de servidor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8961120" y="1920240"/>
            <a:ext cx="2468880" cy="3566160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9738360" y="2286000"/>
            <a:ext cx="914400" cy="914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gitBranch.png" id="218" name="Google Shape;218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939528" y="2487168"/>
            <a:ext cx="512064" cy="51206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6"/>
          <p:cNvSpPr/>
          <p:nvPr/>
        </p:nvSpPr>
        <p:spPr>
          <a:xfrm>
            <a:off x="9052560" y="33375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Control de versiones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9052560" y="3703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24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Git + GitHub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9098280" y="4160520"/>
            <a:ext cx="21945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Respaldo y control de avances del proyecto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6"/>
          <p:cNvSpPr/>
          <p:nvPr/>
        </p:nvSpPr>
        <p:spPr>
          <a:xfrm>
            <a:off x="548640" y="5715000"/>
            <a:ext cx="10881360" cy="548640"/>
          </a:xfrm>
          <a:prstGeom prst="roundRect">
            <a:avLst>
              <a:gd fmla="val 13333" name="adj"/>
            </a:avLst>
          </a:prstGeom>
          <a:solidFill>
            <a:srgbClr val="1630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548640" y="57150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Propuesta a validar con el profesor guía según los requerimientos finales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7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Plan de trabajo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7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Organizado en sprints, cada uno con módulos y entregables concretos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7"/>
          <p:cNvSpPr/>
          <p:nvPr/>
        </p:nvSpPr>
        <p:spPr>
          <a:xfrm>
            <a:off x="548640" y="2148840"/>
            <a:ext cx="2011680" cy="3063240"/>
          </a:xfrm>
          <a:prstGeom prst="roundRect">
            <a:avLst>
              <a:gd fmla="val 6364" name="adj"/>
            </a:avLst>
          </a:prstGeom>
          <a:solidFill>
            <a:srgbClr val="2C5F2D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7"/>
          <p:cNvSpPr/>
          <p:nvPr/>
        </p:nvSpPr>
        <p:spPr>
          <a:xfrm>
            <a:off x="1170432" y="2423160"/>
            <a:ext cx="768096" cy="768096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lipboard.png" id="235" name="Google Shape;23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44168" y="259689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7"/>
          <p:cNvSpPr/>
          <p:nvPr/>
        </p:nvSpPr>
        <p:spPr>
          <a:xfrm>
            <a:off x="548660" y="3310148"/>
            <a:ext cx="1920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Preparación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7"/>
          <p:cNvSpPr/>
          <p:nvPr/>
        </p:nvSpPr>
        <p:spPr>
          <a:xfrm>
            <a:off x="713232" y="3794760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Levantamiento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7"/>
          <p:cNvSpPr/>
          <p:nvPr/>
        </p:nvSpPr>
        <p:spPr>
          <a:xfrm>
            <a:off x="713232" y="4215384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Análisis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7"/>
          <p:cNvSpPr/>
          <p:nvPr/>
        </p:nvSpPr>
        <p:spPr>
          <a:xfrm>
            <a:off x="713232" y="4636008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Diseño BD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2580894" y="3931920"/>
            <a:ext cx="164592" cy="228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7"/>
          <p:cNvSpPr/>
          <p:nvPr/>
        </p:nvSpPr>
        <p:spPr>
          <a:xfrm>
            <a:off x="2766060" y="2148840"/>
            <a:ext cx="2011680" cy="3063240"/>
          </a:xfrm>
          <a:prstGeom prst="roundRect">
            <a:avLst>
              <a:gd fmla="val 6364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7"/>
          <p:cNvSpPr/>
          <p:nvPr/>
        </p:nvSpPr>
        <p:spPr>
          <a:xfrm>
            <a:off x="3387852" y="242316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.png" id="243" name="Google Shape;243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61588" y="259689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7"/>
          <p:cNvSpPr/>
          <p:nvPr/>
        </p:nvSpPr>
        <p:spPr>
          <a:xfrm>
            <a:off x="2811780" y="33375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400"/>
              <a:buFont typeface="Calibri"/>
              <a:buNone/>
            </a:pPr>
            <a:r>
              <a:rPr b="1" i="0" lang="en-US" sz="21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Sprint 1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7"/>
          <p:cNvSpPr/>
          <p:nvPr/>
        </p:nvSpPr>
        <p:spPr>
          <a:xfrm>
            <a:off x="2930652" y="3794760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 Trabajadores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7"/>
          <p:cNvSpPr/>
          <p:nvPr/>
        </p:nvSpPr>
        <p:spPr>
          <a:xfrm>
            <a:off x="2930652" y="4215384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 Contratos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7"/>
          <p:cNvSpPr/>
          <p:nvPr/>
        </p:nvSpPr>
        <p:spPr>
          <a:xfrm>
            <a:off x="4798314" y="3931920"/>
            <a:ext cx="164592" cy="228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7"/>
          <p:cNvSpPr/>
          <p:nvPr/>
        </p:nvSpPr>
        <p:spPr>
          <a:xfrm>
            <a:off x="4983480" y="2148840"/>
            <a:ext cx="2011680" cy="3063240"/>
          </a:xfrm>
          <a:prstGeom prst="roundRect">
            <a:avLst>
              <a:gd fmla="val 6364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7"/>
          <p:cNvSpPr/>
          <p:nvPr/>
        </p:nvSpPr>
        <p:spPr>
          <a:xfrm>
            <a:off x="5605272" y="242316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dollar.png" id="250" name="Google Shape;250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79008" y="259689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7"/>
          <p:cNvSpPr/>
          <p:nvPr/>
        </p:nvSpPr>
        <p:spPr>
          <a:xfrm>
            <a:off x="5029200" y="33375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400"/>
              <a:buFont typeface="Calibri"/>
              <a:buNone/>
            </a:pPr>
            <a:r>
              <a:rPr b="1" i="0" lang="en-US" sz="20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Sprint 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7"/>
          <p:cNvSpPr/>
          <p:nvPr/>
        </p:nvSpPr>
        <p:spPr>
          <a:xfrm>
            <a:off x="5148072" y="3794760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 Pagos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5148072" y="4215384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 Vehículos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7015734" y="3931920"/>
            <a:ext cx="164592" cy="228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7200900" y="2148840"/>
            <a:ext cx="2011680" cy="3063240"/>
          </a:xfrm>
          <a:prstGeom prst="roundRect">
            <a:avLst>
              <a:gd fmla="val 6364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7"/>
          <p:cNvSpPr/>
          <p:nvPr/>
        </p:nvSpPr>
        <p:spPr>
          <a:xfrm>
            <a:off x="7822692" y="242316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s.png" id="257" name="Google Shape;257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96428" y="259689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7"/>
          <p:cNvSpPr/>
          <p:nvPr/>
        </p:nvSpPr>
        <p:spPr>
          <a:xfrm>
            <a:off x="7246620" y="33375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400"/>
              <a:buFont typeface="Calibri"/>
              <a:buNone/>
            </a:pPr>
            <a:r>
              <a:rPr b="1" i="0" lang="en-US" sz="19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Sprint 3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7365492" y="3794760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 Clientes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7365492" y="4215384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 Servicios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9233154" y="3931920"/>
            <a:ext cx="164592" cy="228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9418320" y="2148840"/>
            <a:ext cx="2011680" cy="3063240"/>
          </a:xfrm>
          <a:prstGeom prst="roundRect">
            <a:avLst>
              <a:gd fmla="val 6364" name="adj"/>
            </a:avLst>
          </a:prstGeom>
          <a:solidFill>
            <a:srgbClr val="2C5F2D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10040112" y="2423160"/>
            <a:ext cx="768096" cy="768096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Check.png" id="264" name="Google Shape;264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213848" y="259689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7"/>
          <p:cNvSpPr/>
          <p:nvPr/>
        </p:nvSpPr>
        <p:spPr>
          <a:xfrm>
            <a:off x="9464040" y="33375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9582912" y="3794760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Pruebas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9582912" y="4215384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Validación con usuarios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7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8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Tiempo de trabajo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Carta Gantt estimada — 16 semanas de desarrollo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7" name="Google Shape;277;p8"/>
          <p:cNvCxnSpPr/>
          <p:nvPr/>
        </p:nvCxnSpPr>
        <p:spPr>
          <a:xfrm>
            <a:off x="4160520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8" name="Google Shape;278;p8"/>
          <p:cNvSpPr/>
          <p:nvPr/>
        </p:nvSpPr>
        <p:spPr>
          <a:xfrm>
            <a:off x="3931920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9" name="Google Shape;279;p8"/>
          <p:cNvCxnSpPr/>
          <p:nvPr/>
        </p:nvCxnSpPr>
        <p:spPr>
          <a:xfrm>
            <a:off x="5023485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0" name="Google Shape;280;p8"/>
          <p:cNvSpPr/>
          <p:nvPr/>
        </p:nvSpPr>
        <p:spPr>
          <a:xfrm>
            <a:off x="4794885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1" name="Google Shape;281;p8"/>
          <p:cNvCxnSpPr/>
          <p:nvPr/>
        </p:nvCxnSpPr>
        <p:spPr>
          <a:xfrm>
            <a:off x="5886450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2" name="Google Shape;282;p8"/>
          <p:cNvSpPr/>
          <p:nvPr/>
        </p:nvSpPr>
        <p:spPr>
          <a:xfrm>
            <a:off x="5657850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3" name="Google Shape;283;p8"/>
          <p:cNvCxnSpPr/>
          <p:nvPr/>
        </p:nvCxnSpPr>
        <p:spPr>
          <a:xfrm>
            <a:off x="6749415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4" name="Google Shape;284;p8"/>
          <p:cNvSpPr/>
          <p:nvPr/>
        </p:nvSpPr>
        <p:spPr>
          <a:xfrm>
            <a:off x="6520815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5" name="Google Shape;285;p8"/>
          <p:cNvCxnSpPr/>
          <p:nvPr/>
        </p:nvCxnSpPr>
        <p:spPr>
          <a:xfrm>
            <a:off x="7612380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" name="Google Shape;286;p8"/>
          <p:cNvSpPr/>
          <p:nvPr/>
        </p:nvSpPr>
        <p:spPr>
          <a:xfrm>
            <a:off x="7383780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7" name="Google Shape;287;p8"/>
          <p:cNvCxnSpPr/>
          <p:nvPr/>
        </p:nvCxnSpPr>
        <p:spPr>
          <a:xfrm>
            <a:off x="8475345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" name="Google Shape;288;p8"/>
          <p:cNvSpPr/>
          <p:nvPr/>
        </p:nvSpPr>
        <p:spPr>
          <a:xfrm>
            <a:off x="8246745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9" name="Google Shape;289;p8"/>
          <p:cNvCxnSpPr/>
          <p:nvPr/>
        </p:nvCxnSpPr>
        <p:spPr>
          <a:xfrm>
            <a:off x="9338310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0" name="Google Shape;290;p8"/>
          <p:cNvSpPr/>
          <p:nvPr/>
        </p:nvSpPr>
        <p:spPr>
          <a:xfrm>
            <a:off x="9109710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1" name="Google Shape;291;p8"/>
          <p:cNvCxnSpPr/>
          <p:nvPr/>
        </p:nvCxnSpPr>
        <p:spPr>
          <a:xfrm>
            <a:off x="10201275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2" name="Google Shape;292;p8"/>
          <p:cNvSpPr/>
          <p:nvPr/>
        </p:nvSpPr>
        <p:spPr>
          <a:xfrm>
            <a:off x="9972675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3" name="Google Shape;293;p8"/>
          <p:cNvCxnSpPr/>
          <p:nvPr/>
        </p:nvCxnSpPr>
        <p:spPr>
          <a:xfrm>
            <a:off x="11064240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4" name="Google Shape;294;p8"/>
          <p:cNvSpPr/>
          <p:nvPr/>
        </p:nvSpPr>
        <p:spPr>
          <a:xfrm>
            <a:off x="10835640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457200" y="1719072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lipboard.png" id="296" name="Google Shape;29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6072" y="1837944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8"/>
          <p:cNvSpPr/>
          <p:nvPr/>
        </p:nvSpPr>
        <p:spPr>
          <a:xfrm>
            <a:off x="1097280" y="1691640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Levantamiento y análisis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4160520" y="1801368"/>
            <a:ext cx="862965" cy="347472"/>
          </a:xfrm>
          <a:prstGeom prst="roundRect">
            <a:avLst>
              <a:gd fmla="val 15789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8"/>
          <p:cNvSpPr/>
          <p:nvPr/>
        </p:nvSpPr>
        <p:spPr>
          <a:xfrm>
            <a:off x="4160520" y="1801368"/>
            <a:ext cx="862965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8"/>
          <p:cNvSpPr/>
          <p:nvPr/>
        </p:nvSpPr>
        <p:spPr>
          <a:xfrm>
            <a:off x="457200" y="2286000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layout.png" id="301" name="Google Shape;30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6072" y="240487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8"/>
          <p:cNvSpPr/>
          <p:nvPr/>
        </p:nvSpPr>
        <p:spPr>
          <a:xfrm>
            <a:off x="1097280" y="2258568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Diseño (BD y módulos)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8"/>
          <p:cNvSpPr/>
          <p:nvPr/>
        </p:nvSpPr>
        <p:spPr>
          <a:xfrm>
            <a:off x="5023485" y="2368296"/>
            <a:ext cx="862965" cy="347472"/>
          </a:xfrm>
          <a:prstGeom prst="roundRect">
            <a:avLst>
              <a:gd fmla="val 15789" name="adj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8"/>
          <p:cNvSpPr/>
          <p:nvPr/>
        </p:nvSpPr>
        <p:spPr>
          <a:xfrm>
            <a:off x="5023485" y="2368296"/>
            <a:ext cx="862965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457200" y="2852928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.png" id="306" name="Google Shape;30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6072" y="297180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8"/>
          <p:cNvSpPr/>
          <p:nvPr/>
        </p:nvSpPr>
        <p:spPr>
          <a:xfrm>
            <a:off x="1097280" y="2825496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5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Sprint 1 Trabajadores/Contratos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5886450" y="2935224"/>
            <a:ext cx="1294448" cy="347472"/>
          </a:xfrm>
          <a:prstGeom prst="roundRect">
            <a:avLst>
              <a:gd fmla="val 15789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5886450" y="2935224"/>
            <a:ext cx="12944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457200" y="3419856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dollar.png" id="311" name="Google Shape;311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6072" y="353872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8"/>
          <p:cNvSpPr/>
          <p:nvPr/>
        </p:nvSpPr>
        <p:spPr>
          <a:xfrm>
            <a:off x="1097280" y="3392424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Sprint 2  Pagos / Vehículos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7180898" y="3502152"/>
            <a:ext cx="1294448" cy="347472"/>
          </a:xfrm>
          <a:prstGeom prst="roundRect">
            <a:avLst>
              <a:gd fmla="val 15789" name="adj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7180898" y="3502152"/>
            <a:ext cx="12944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457200" y="3986784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s.png" id="316" name="Google Shape;316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6072" y="410565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8"/>
          <p:cNvSpPr/>
          <p:nvPr/>
        </p:nvSpPr>
        <p:spPr>
          <a:xfrm>
            <a:off x="1097280" y="3959352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6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Sprint 3  Clientes / Servicios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"/>
          <p:cNvSpPr/>
          <p:nvPr/>
        </p:nvSpPr>
        <p:spPr>
          <a:xfrm>
            <a:off x="8475345" y="4069080"/>
            <a:ext cx="1294448" cy="347472"/>
          </a:xfrm>
          <a:prstGeom prst="roundRect">
            <a:avLst>
              <a:gd fmla="val 15789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8"/>
          <p:cNvSpPr/>
          <p:nvPr/>
        </p:nvSpPr>
        <p:spPr>
          <a:xfrm>
            <a:off x="8475345" y="4069080"/>
            <a:ext cx="12944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8"/>
          <p:cNvSpPr/>
          <p:nvPr/>
        </p:nvSpPr>
        <p:spPr>
          <a:xfrm>
            <a:off x="457200" y="4553712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checkSquare.png" id="321" name="Google Shape;321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6072" y="4672584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8"/>
          <p:cNvSpPr/>
          <p:nvPr/>
        </p:nvSpPr>
        <p:spPr>
          <a:xfrm>
            <a:off x="1097280" y="4526280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8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Pruebas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"/>
          <p:cNvSpPr/>
          <p:nvPr/>
        </p:nvSpPr>
        <p:spPr>
          <a:xfrm>
            <a:off x="9769793" y="4636008"/>
            <a:ext cx="862965" cy="347472"/>
          </a:xfrm>
          <a:prstGeom prst="roundRect">
            <a:avLst>
              <a:gd fmla="val 15789" name="adj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769793" y="4636008"/>
            <a:ext cx="862965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8"/>
          <p:cNvSpPr/>
          <p:nvPr/>
        </p:nvSpPr>
        <p:spPr>
          <a:xfrm>
            <a:off x="457200" y="5120640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s/userCheck.png" id="326" name="Google Shape;326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76072" y="523951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8"/>
          <p:cNvSpPr/>
          <p:nvPr/>
        </p:nvSpPr>
        <p:spPr>
          <a:xfrm>
            <a:off x="1101867" y="5093208"/>
            <a:ext cx="29262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7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Implementación y validación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10632758" y="5202936"/>
            <a:ext cx="431483" cy="347472"/>
          </a:xfrm>
          <a:prstGeom prst="roundRect">
            <a:avLst>
              <a:gd fmla="val 15789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8"/>
          <p:cNvSpPr/>
          <p:nvPr/>
        </p:nvSpPr>
        <p:spPr>
          <a:xfrm>
            <a:off x="10632758" y="5202936"/>
            <a:ext cx="431483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8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8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2026-09-01T22:17:27Z</dcterms:created>
  <dc:creator>PptxGenJS</dc:creator>
</cp:coreProperties>
</file>