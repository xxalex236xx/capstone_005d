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3" roundtripDataSignature="AMtx7mhCKmfgbEoN2cjZ+OV6Zb2JxJs9u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customschemas.google.com/relationships/presentationmetadata" Target="meta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" name="Google Shape;3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0" name="Google Shape;18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image" Target="../media/image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2.png"/><Relationship Id="rId6" Type="http://schemas.openxmlformats.org/officeDocument/2006/relationships/image" Target="../media/image11.png"/><Relationship Id="rId7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13.png"/><Relationship Id="rId6" Type="http://schemas.openxmlformats.org/officeDocument/2006/relationships/image" Target="../media/image20.png"/><Relationship Id="rId7" Type="http://schemas.openxmlformats.org/officeDocument/2006/relationships/image" Target="../media/image10.png"/><Relationship Id="rId8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9" Type="http://schemas.openxmlformats.org/officeDocument/2006/relationships/image" Target="../media/image26.png"/><Relationship Id="rId5" Type="http://schemas.openxmlformats.org/officeDocument/2006/relationships/image" Target="../media/image22.png"/><Relationship Id="rId6" Type="http://schemas.openxmlformats.org/officeDocument/2006/relationships/image" Target="../media/image20.png"/><Relationship Id="rId7" Type="http://schemas.openxmlformats.org/officeDocument/2006/relationships/image" Target="../media/image27.png"/><Relationship Id="rId8" Type="http://schemas.openxmlformats.org/officeDocument/2006/relationships/image" Target="../media/image1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image20.png"/><Relationship Id="rId5" Type="http://schemas.openxmlformats.org/officeDocument/2006/relationships/image" Target="../media/image13.png"/><Relationship Id="rId6" Type="http://schemas.openxmlformats.org/officeDocument/2006/relationships/image" Target="../media/image37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Relationship Id="rId7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Relationship Id="rId9" Type="http://schemas.openxmlformats.org/officeDocument/2006/relationships/image" Target="../media/image17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6301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-1645920" y="4754880"/>
            <a:ext cx="3657600" cy="36576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822960" y="685800"/>
            <a:ext cx="7315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TRABAJO DE TÍTULO · CAPSTONE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22960" y="1097280"/>
            <a:ext cx="98755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Sistema de Gestión Administrativa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mbria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para Empresa Agrícola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22960" y="2788920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Aplicación de escritorio que centraliza y digitaliza los procesos administrativos de la empresa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22" name="Google Shape;2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926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/>
          <p:nvPr/>
        </p:nvSpPr>
        <p:spPr>
          <a:xfrm>
            <a:off x="54864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Sebastián Valenzuela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342900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25" name="Google Shape;2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30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1"/>
          <p:cNvSpPr/>
          <p:nvPr/>
        </p:nvSpPr>
        <p:spPr>
          <a:xfrm>
            <a:off x="315468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Alex Núñez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603504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28" name="Google Shape;2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18134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1"/>
          <p:cNvSpPr/>
          <p:nvPr/>
        </p:nvSpPr>
        <p:spPr>
          <a:xfrm>
            <a:off x="576072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Alexander vivanco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8641080" y="3794760"/>
            <a:ext cx="658368" cy="658368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31" name="Google Shape;3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87384" y="3941064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1"/>
          <p:cNvSpPr/>
          <p:nvPr/>
        </p:nvSpPr>
        <p:spPr>
          <a:xfrm>
            <a:off x="8366760" y="45262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lang="en-US" sz="12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Diego Alvarez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" name="Google Shape;33;p1"/>
          <p:cNvCxnSpPr/>
          <p:nvPr/>
        </p:nvCxnSpPr>
        <p:spPr>
          <a:xfrm>
            <a:off x="822960" y="5349240"/>
            <a:ext cx="10515600" cy="0"/>
          </a:xfrm>
          <a:prstGeom prst="straightConnector1">
            <a:avLst/>
          </a:prstGeom>
          <a:noFill/>
          <a:ln cap="flat" cmpd="sng" w="12700">
            <a:solidFill>
              <a:srgbClr val="2C5F2D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p1"/>
          <p:cNvSpPr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Profesor guía: 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Cristian Eduardo Molina Pedernera    </a:t>
            </a:r>
            <a:r>
              <a:rPr b="1" i="0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|  Institución: 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Duoc UC </a:t>
            </a:r>
            <a:r>
              <a:rPr lang="en-US" sz="11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/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Ingeniería en Informática    </a:t>
            </a:r>
            <a:r>
              <a:rPr b="1" i="0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|  Fecha:  </a:t>
            </a: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02/09/2026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Solución propuesta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548640" y="914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Aplicación de escritorio que centraliza la gestión administrativa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5038344" y="2971800"/>
            <a:ext cx="2103120" cy="210312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monitor.png" id="43" name="Google Shape;4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05856" y="3246120"/>
            <a:ext cx="768096" cy="768096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2"/>
          <p:cNvSpPr/>
          <p:nvPr/>
        </p:nvSpPr>
        <p:spPr>
          <a:xfrm>
            <a:off x="5129784" y="406908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DE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GESTIÓN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5" name="Google Shape;45;p2"/>
          <p:cNvCxnSpPr/>
          <p:nvPr/>
        </p:nvCxnSpPr>
        <p:spPr>
          <a:xfrm>
            <a:off x="5038344" y="2202005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6" name="Google Shape;46;p2"/>
          <p:cNvCxnSpPr/>
          <p:nvPr/>
        </p:nvCxnSpPr>
        <p:spPr>
          <a:xfrm flipH="1" rot="10800000">
            <a:off x="6089904" y="2202005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" name="Google Shape;47;p2"/>
          <p:cNvCxnSpPr/>
          <p:nvPr/>
        </p:nvCxnSpPr>
        <p:spPr>
          <a:xfrm flipH="1" rot="10800000">
            <a:off x="6089904" y="4023360"/>
            <a:ext cx="2103120" cy="9144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" name="Google Shape;48;p2"/>
          <p:cNvCxnSpPr/>
          <p:nvPr/>
        </p:nvCxnSpPr>
        <p:spPr>
          <a:xfrm>
            <a:off x="6089904" y="4023360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9" name="Google Shape;49;p2"/>
          <p:cNvCxnSpPr/>
          <p:nvPr/>
        </p:nvCxnSpPr>
        <p:spPr>
          <a:xfrm flipH="1" rot="10800000">
            <a:off x="5038344" y="4023360"/>
            <a:ext cx="1051560" cy="1821355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0" name="Google Shape;50;p2"/>
          <p:cNvCxnSpPr/>
          <p:nvPr/>
        </p:nvCxnSpPr>
        <p:spPr>
          <a:xfrm>
            <a:off x="3986784" y="4023360"/>
            <a:ext cx="2103120" cy="9144"/>
          </a:xfrm>
          <a:prstGeom prst="straightConnector1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51" name="Google Shape;51;p2"/>
          <p:cNvSpPr/>
          <p:nvPr/>
        </p:nvSpPr>
        <p:spPr>
          <a:xfrm>
            <a:off x="4672584" y="183624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ool.png" id="52" name="Google Shape;5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37176" y="200083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"/>
          <p:cNvSpPr/>
          <p:nvPr/>
        </p:nvSpPr>
        <p:spPr>
          <a:xfrm>
            <a:off x="4261104" y="142476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Servicios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6775704" y="183624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s.png" id="55" name="Google Shape;55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40296" y="200083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2"/>
          <p:cNvSpPr/>
          <p:nvPr/>
        </p:nvSpPr>
        <p:spPr>
          <a:xfrm>
            <a:off x="6364224" y="142476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Clientes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7827264" y="3657600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ruck.png" id="58" name="Google Shape;58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91856" y="3822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2"/>
          <p:cNvSpPr/>
          <p:nvPr/>
        </p:nvSpPr>
        <p:spPr>
          <a:xfrm>
            <a:off x="7415784" y="3246120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Vehículos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6775704" y="547895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ollar.png" id="61" name="Google Shape;61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40296" y="564354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2"/>
          <p:cNvSpPr/>
          <p:nvPr/>
        </p:nvSpPr>
        <p:spPr>
          <a:xfrm>
            <a:off x="6364224" y="625619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Pagos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4672584" y="5478955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fileText.png" id="64" name="Google Shape;64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837176" y="564354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2"/>
          <p:cNvSpPr/>
          <p:nvPr/>
        </p:nvSpPr>
        <p:spPr>
          <a:xfrm>
            <a:off x="4261104" y="6256195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Contratos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3621024" y="3657600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67" name="Google Shape;67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3785616" y="3822192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2"/>
          <p:cNvSpPr/>
          <p:nvPr/>
        </p:nvSpPr>
        <p:spPr>
          <a:xfrm>
            <a:off x="3209544" y="3246120"/>
            <a:ext cx="1554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Trabajadores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Problemática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548640" y="9144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La información no falta: falta organización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77723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128015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folder.png" id="80" name="Google Shape;8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474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/>
          <p:nvPr/>
        </p:nvSpPr>
        <p:spPr>
          <a:xfrm>
            <a:off x="82295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Información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manual y dispersa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258660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299465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349757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arch.png" id="85" name="Google Shape;85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66216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304037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Difícil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 encontrar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480402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521207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571499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ock.png" id="90" name="Google Shape;9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7958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525779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Más tiempo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 gestión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702144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742949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7932414" y="2743205"/>
            <a:ext cx="731400" cy="731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alert.png" id="95" name="Google Shape;95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700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3"/>
          <p:cNvSpPr/>
          <p:nvPr/>
        </p:nvSpPr>
        <p:spPr>
          <a:xfrm>
            <a:off x="747521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Errores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humanos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3"/>
          <p:cNvSpPr/>
          <p:nvPr/>
        </p:nvSpPr>
        <p:spPr>
          <a:xfrm>
            <a:off x="9238863" y="3291845"/>
            <a:ext cx="336000" cy="274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3"/>
          <p:cNvSpPr/>
          <p:nvPr/>
        </p:nvSpPr>
        <p:spPr>
          <a:xfrm>
            <a:off x="9646914" y="2514605"/>
            <a:ext cx="1737300" cy="1828800"/>
          </a:xfrm>
          <a:prstGeom prst="roundRect">
            <a:avLst>
              <a:gd fmla="val 6316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10149834" y="2743205"/>
            <a:ext cx="731400" cy="7314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alertCircle.png" id="100" name="Google Shape;100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14426" y="2907797"/>
            <a:ext cx="402336" cy="402336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3"/>
          <p:cNvSpPr/>
          <p:nvPr/>
        </p:nvSpPr>
        <p:spPr>
          <a:xfrm>
            <a:off x="9692634" y="3566165"/>
            <a:ext cx="1645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Poco control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y trazabilidad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3"/>
          <p:cNvSpPr/>
          <p:nvPr/>
        </p:nvSpPr>
        <p:spPr>
          <a:xfrm>
            <a:off x="786384" y="5623560"/>
            <a:ext cx="10607040" cy="777240"/>
          </a:xfrm>
          <a:prstGeom prst="roundRect">
            <a:avLst>
              <a:gd fmla="val 11765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1051560" y="5623560"/>
            <a:ext cx="100584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El problema central no es la falta de información, sino su falta de organización.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3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Objetivos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548640" y="960120"/>
            <a:ext cx="10881360" cy="868680"/>
          </a:xfrm>
          <a:prstGeom prst="roundRect">
            <a:avLst>
              <a:gd fmla="val 10526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777240" y="1069848"/>
            <a:ext cx="658368" cy="658368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target.png" id="114" name="Google Shape;114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4400" y="1207008"/>
            <a:ext cx="384048" cy="384048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4"/>
          <p:cNvSpPr/>
          <p:nvPr/>
        </p:nvSpPr>
        <p:spPr>
          <a:xfrm>
            <a:off x="1600200" y="960120"/>
            <a:ext cx="96469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Objetivo general:  </a:t>
            </a: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de escritorio que centralice y digitalice la gestión administrativa de la empresa agrícola.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864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130302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130302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114757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ipboard.png" id="120" name="Google Shape;120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130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/>
          <p:nvPr/>
        </p:nvSpPr>
        <p:spPr>
          <a:xfrm>
            <a:off x="62179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Levantar y analizar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requerimientos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277749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353187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53187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37642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atabase.png" id="126" name="Google Shape;126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5015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4"/>
          <p:cNvSpPr/>
          <p:nvPr/>
        </p:nvSpPr>
        <p:spPr>
          <a:xfrm>
            <a:off x="285064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Diseñar la base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 datos relacional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500634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4"/>
          <p:cNvSpPr/>
          <p:nvPr/>
        </p:nvSpPr>
        <p:spPr>
          <a:xfrm>
            <a:off x="576072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/>
          <p:nvPr/>
        </p:nvSpPr>
        <p:spPr>
          <a:xfrm>
            <a:off x="576072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560527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ode.png" id="132" name="Google Shape;132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7900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4"/>
          <p:cNvSpPr/>
          <p:nvPr/>
        </p:nvSpPr>
        <p:spPr>
          <a:xfrm>
            <a:off x="507949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Desarrollar los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módulos funcionales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4"/>
          <p:cNvSpPr/>
          <p:nvPr/>
        </p:nvSpPr>
        <p:spPr>
          <a:xfrm>
            <a:off x="723519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798957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98957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783412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arch.png" id="138" name="Google Shape;138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0785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/>
          <p:nvPr/>
        </p:nvSpPr>
        <p:spPr>
          <a:xfrm>
            <a:off x="730834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Implementar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búsqueda y reportes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9464040" y="2514600"/>
            <a:ext cx="1965960" cy="2606040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10218420" y="2286000"/>
            <a:ext cx="457200" cy="45720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10218420" y="22860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301A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6301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4"/>
          <p:cNvSpPr/>
          <p:nvPr/>
        </p:nvSpPr>
        <p:spPr>
          <a:xfrm>
            <a:off x="10062972" y="292608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Check.png" id="144" name="Google Shape;144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236708" y="309981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4"/>
          <p:cNvSpPr/>
          <p:nvPr/>
        </p:nvSpPr>
        <p:spPr>
          <a:xfrm>
            <a:off x="9537192" y="3886200"/>
            <a:ext cx="1819656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Validar con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usuarios reales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4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Metodología de desarrollo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Scrum adaptado a un proyecto individual, con el profesor guía como Product Owner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5"/>
          <p:cNvSpPr/>
          <p:nvPr/>
        </p:nvSpPr>
        <p:spPr>
          <a:xfrm>
            <a:off x="4722876" y="1708141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ipboard.png" id="156" name="Google Shape;15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96612" y="1881877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5"/>
          <p:cNvSpPr/>
          <p:nvPr/>
        </p:nvSpPr>
        <p:spPr>
          <a:xfrm>
            <a:off x="4375404" y="1314949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Levantamiento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6688836" y="1708141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search.png" id="159" name="Google Shape;15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2572" y="1881877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5"/>
          <p:cNvSpPr/>
          <p:nvPr/>
        </p:nvSpPr>
        <p:spPr>
          <a:xfrm>
            <a:off x="6341364" y="1314949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7671816" y="3410712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layout.png" id="162" name="Google Shape;162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845552" y="3584448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5"/>
          <p:cNvSpPr/>
          <p:nvPr/>
        </p:nvSpPr>
        <p:spPr>
          <a:xfrm>
            <a:off x="7324344" y="3017520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Diseño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6688836" y="5113283"/>
            <a:ext cx="768096" cy="768096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ode.png" id="165" name="Google Shape;165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62572" y="5287019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5"/>
          <p:cNvSpPr/>
          <p:nvPr/>
        </p:nvSpPr>
        <p:spPr>
          <a:xfrm>
            <a:off x="6341364" y="5936243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Desarrollo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(Sprints)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4722876" y="5113283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eckSquare.png" id="168" name="Google Shape;168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96612" y="5287019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5"/>
          <p:cNvSpPr/>
          <p:nvPr/>
        </p:nvSpPr>
        <p:spPr>
          <a:xfrm>
            <a:off x="4375404" y="5936243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739896" y="3410712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Check.png" id="171" name="Google Shape;171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3913632" y="3584448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5"/>
          <p:cNvSpPr/>
          <p:nvPr/>
        </p:nvSpPr>
        <p:spPr>
          <a:xfrm>
            <a:off x="3392424" y="3017520"/>
            <a:ext cx="14630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Validación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5"/>
          <p:cNvSpPr/>
          <p:nvPr/>
        </p:nvSpPr>
        <p:spPr>
          <a:xfrm>
            <a:off x="4123944" y="1828800"/>
            <a:ext cx="3931920" cy="3931920"/>
          </a:xfrm>
          <a:prstGeom prst="ellipse">
            <a:avLst/>
          </a:prstGeom>
          <a:noFill/>
          <a:ln cap="flat" cmpd="sng" w="19050">
            <a:solidFill>
              <a:srgbClr val="97BC62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5724144" y="3429000"/>
            <a:ext cx="731520" cy="731520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refresh.png" id="175" name="Google Shape;175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70448" y="3575304"/>
            <a:ext cx="438912" cy="43891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5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Tecnologías del proyecto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6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Combinación simple y liviana, pensada para un desarrollo individual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6"/>
          <p:cNvSpPr/>
          <p:nvPr/>
        </p:nvSpPr>
        <p:spPr>
          <a:xfrm>
            <a:off x="54864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6"/>
          <p:cNvSpPr/>
          <p:nvPr/>
        </p:nvSpPr>
        <p:spPr>
          <a:xfrm>
            <a:off x="132588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layout.png" id="187" name="Google Shape;187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704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/>
          <p:nvPr/>
        </p:nvSpPr>
        <p:spPr>
          <a:xfrm>
            <a:off x="64008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Interfaz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6"/>
          <p:cNvSpPr/>
          <p:nvPr/>
        </p:nvSpPr>
        <p:spPr>
          <a:xfrm>
            <a:off x="64008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Python + CustomTkinter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6"/>
          <p:cNvSpPr/>
          <p:nvPr/>
        </p:nvSpPr>
        <p:spPr>
          <a:xfrm>
            <a:off x="68580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Interfaz gráfica de escritorio simple y moderna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/>
          <p:nvPr/>
        </p:nvSpPr>
        <p:spPr>
          <a:xfrm>
            <a:off x="335280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6"/>
          <p:cNvSpPr/>
          <p:nvPr/>
        </p:nvSpPr>
        <p:spPr>
          <a:xfrm>
            <a:off x="413004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ode.png" id="193" name="Google Shape;19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3120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6"/>
          <p:cNvSpPr/>
          <p:nvPr/>
        </p:nvSpPr>
        <p:spPr>
          <a:xfrm>
            <a:off x="344424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Lógica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6"/>
          <p:cNvSpPr/>
          <p:nvPr/>
        </p:nvSpPr>
        <p:spPr>
          <a:xfrm>
            <a:off x="344424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6"/>
          <p:cNvSpPr/>
          <p:nvPr/>
        </p:nvSpPr>
        <p:spPr>
          <a:xfrm>
            <a:off x="348996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Un solo lenguaje para toda la aplicación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6"/>
          <p:cNvSpPr/>
          <p:nvPr/>
        </p:nvSpPr>
        <p:spPr>
          <a:xfrm>
            <a:off x="615696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6"/>
          <p:cNvSpPr/>
          <p:nvPr/>
        </p:nvSpPr>
        <p:spPr>
          <a:xfrm>
            <a:off x="693420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atabase.png" id="199" name="Google Shape;199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13536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6"/>
          <p:cNvSpPr/>
          <p:nvPr/>
        </p:nvSpPr>
        <p:spPr>
          <a:xfrm>
            <a:off x="624840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Base de datos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6"/>
          <p:cNvSpPr/>
          <p:nvPr/>
        </p:nvSpPr>
        <p:spPr>
          <a:xfrm>
            <a:off x="624840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SQLite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6"/>
          <p:cNvSpPr/>
          <p:nvPr/>
        </p:nvSpPr>
        <p:spPr>
          <a:xfrm>
            <a:off x="629412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Motor liviano, sin instalación de servidor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6"/>
          <p:cNvSpPr/>
          <p:nvPr/>
        </p:nvSpPr>
        <p:spPr>
          <a:xfrm>
            <a:off x="8961120" y="1920240"/>
            <a:ext cx="2468880" cy="3566160"/>
          </a:xfrm>
          <a:prstGeom prst="roundRect">
            <a:avLst>
              <a:gd fmla="val 5185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000000">
                <a:alpha val="1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"/>
          <p:cNvSpPr/>
          <p:nvPr/>
        </p:nvSpPr>
        <p:spPr>
          <a:xfrm>
            <a:off x="9738360" y="2286000"/>
            <a:ext cx="914400" cy="914400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gitBranch.png" id="205" name="Google Shape;20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939528" y="2487168"/>
            <a:ext cx="512064" cy="512064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6"/>
          <p:cNvSpPr/>
          <p:nvPr/>
        </p:nvSpPr>
        <p:spPr>
          <a:xfrm>
            <a:off x="9052560" y="33375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Control de versiones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6"/>
          <p:cNvSpPr/>
          <p:nvPr/>
        </p:nvSpPr>
        <p:spPr>
          <a:xfrm>
            <a:off x="9052560" y="3703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Git + GitHub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9098280" y="4160520"/>
            <a:ext cx="219456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Respaldo y control de avances del proyecto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548640" y="5715000"/>
            <a:ext cx="10881360" cy="548640"/>
          </a:xfrm>
          <a:prstGeom prst="roundRect">
            <a:avLst>
              <a:gd fmla="val 13333" name="adj"/>
            </a:avLst>
          </a:prstGeom>
          <a:solidFill>
            <a:srgbClr val="1630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6"/>
          <p:cNvSpPr/>
          <p:nvPr/>
        </p:nvSpPr>
        <p:spPr>
          <a:xfrm>
            <a:off x="548640" y="57150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Propuesta a validar con el profesor guía según los requerimientos finales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Plan de trabajo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7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Organizado en sprints, cada uno con módulos y entregables concretos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7"/>
          <p:cNvSpPr/>
          <p:nvPr/>
        </p:nvSpPr>
        <p:spPr>
          <a:xfrm>
            <a:off x="54864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2C5F2D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7"/>
          <p:cNvSpPr/>
          <p:nvPr/>
        </p:nvSpPr>
        <p:spPr>
          <a:xfrm>
            <a:off x="1170432" y="2423160"/>
            <a:ext cx="768096" cy="768096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ipboard.png" id="222" name="Google Shape;222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4416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/>
          <p:nvPr/>
        </p:nvSpPr>
        <p:spPr>
          <a:xfrm>
            <a:off x="59436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Preparación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7"/>
          <p:cNvSpPr/>
          <p:nvPr/>
        </p:nvSpPr>
        <p:spPr>
          <a:xfrm>
            <a:off x="71323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Levantamiento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7"/>
          <p:cNvSpPr/>
          <p:nvPr/>
        </p:nvSpPr>
        <p:spPr>
          <a:xfrm>
            <a:off x="71323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Análisis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7"/>
          <p:cNvSpPr/>
          <p:nvPr/>
        </p:nvSpPr>
        <p:spPr>
          <a:xfrm>
            <a:off x="713232" y="4636008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Diseño BD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7"/>
          <p:cNvSpPr/>
          <p:nvPr/>
        </p:nvSpPr>
        <p:spPr>
          <a:xfrm>
            <a:off x="258089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7"/>
          <p:cNvSpPr/>
          <p:nvPr/>
        </p:nvSpPr>
        <p:spPr>
          <a:xfrm>
            <a:off x="276606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7"/>
          <p:cNvSpPr/>
          <p:nvPr/>
        </p:nvSpPr>
        <p:spPr>
          <a:xfrm>
            <a:off x="3387852" y="242316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230" name="Google Shape;23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7"/>
          <p:cNvSpPr/>
          <p:nvPr/>
        </p:nvSpPr>
        <p:spPr>
          <a:xfrm>
            <a:off x="281178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Sprint 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7"/>
          <p:cNvSpPr/>
          <p:nvPr/>
        </p:nvSpPr>
        <p:spPr>
          <a:xfrm>
            <a:off x="293065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Trabajadores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7"/>
          <p:cNvSpPr/>
          <p:nvPr/>
        </p:nvSpPr>
        <p:spPr>
          <a:xfrm>
            <a:off x="293065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Contratos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7"/>
          <p:cNvSpPr/>
          <p:nvPr/>
        </p:nvSpPr>
        <p:spPr>
          <a:xfrm>
            <a:off x="479831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7"/>
          <p:cNvSpPr/>
          <p:nvPr/>
        </p:nvSpPr>
        <p:spPr>
          <a:xfrm>
            <a:off x="498348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7"/>
          <p:cNvSpPr/>
          <p:nvPr/>
        </p:nvSpPr>
        <p:spPr>
          <a:xfrm>
            <a:off x="5605272" y="242316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ollar.png" id="237" name="Google Shape;23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7900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7"/>
          <p:cNvSpPr/>
          <p:nvPr/>
        </p:nvSpPr>
        <p:spPr>
          <a:xfrm>
            <a:off x="502920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Sprint 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7"/>
          <p:cNvSpPr/>
          <p:nvPr/>
        </p:nvSpPr>
        <p:spPr>
          <a:xfrm>
            <a:off x="514807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Pagos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7"/>
          <p:cNvSpPr/>
          <p:nvPr/>
        </p:nvSpPr>
        <p:spPr>
          <a:xfrm>
            <a:off x="514807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Vehículos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7"/>
          <p:cNvSpPr/>
          <p:nvPr/>
        </p:nvSpPr>
        <p:spPr>
          <a:xfrm>
            <a:off x="701573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7"/>
          <p:cNvSpPr/>
          <p:nvPr/>
        </p:nvSpPr>
        <p:spPr>
          <a:xfrm>
            <a:off x="720090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FFFFFF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7"/>
          <p:cNvSpPr/>
          <p:nvPr/>
        </p:nvSpPr>
        <p:spPr>
          <a:xfrm>
            <a:off x="7822692" y="2423160"/>
            <a:ext cx="768096" cy="768096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s.png" id="244" name="Google Shape;244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99642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45" name="Google Shape;245;p7"/>
          <p:cNvSpPr/>
          <p:nvPr/>
        </p:nvSpPr>
        <p:spPr>
          <a:xfrm>
            <a:off x="724662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2C5F2D"/>
                </a:solidFill>
                <a:latin typeface="Calibri"/>
                <a:ea typeface="Calibri"/>
                <a:cs typeface="Calibri"/>
                <a:sym typeface="Calibri"/>
              </a:rPr>
              <a:t>Sprint 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/>
          <p:nvPr/>
        </p:nvSpPr>
        <p:spPr>
          <a:xfrm>
            <a:off x="736549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Clientes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7"/>
          <p:cNvSpPr/>
          <p:nvPr/>
        </p:nvSpPr>
        <p:spPr>
          <a:xfrm>
            <a:off x="736549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7BC62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97BC62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Módulo Servicios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7"/>
          <p:cNvSpPr/>
          <p:nvPr/>
        </p:nvSpPr>
        <p:spPr>
          <a:xfrm>
            <a:off x="9233154" y="3931920"/>
            <a:ext cx="164592" cy="228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7"/>
          <p:cNvSpPr/>
          <p:nvPr/>
        </p:nvSpPr>
        <p:spPr>
          <a:xfrm>
            <a:off x="9418320" y="2148840"/>
            <a:ext cx="2011680" cy="3063240"/>
          </a:xfrm>
          <a:prstGeom prst="roundRect">
            <a:avLst>
              <a:gd fmla="val 6364" name="adj"/>
            </a:avLst>
          </a:prstGeom>
          <a:solidFill>
            <a:srgbClr val="2C5F2D"/>
          </a:solidFill>
          <a:ln cap="flat" cmpd="sng" w="12700">
            <a:solidFill>
              <a:srgbClr val="97BC6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7"/>
          <p:cNvSpPr/>
          <p:nvPr/>
        </p:nvSpPr>
        <p:spPr>
          <a:xfrm>
            <a:off x="10040112" y="2423160"/>
            <a:ext cx="768096" cy="768096"/>
          </a:xfrm>
          <a:prstGeom prst="ellipse">
            <a:avLst/>
          </a:prstGeom>
          <a:solidFill>
            <a:srgbClr val="E3A85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Check.png" id="251" name="Google Shape;251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13848" y="2596896"/>
            <a:ext cx="420624" cy="420624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7"/>
          <p:cNvSpPr/>
          <p:nvPr/>
        </p:nvSpPr>
        <p:spPr>
          <a:xfrm>
            <a:off x="9464040" y="3337560"/>
            <a:ext cx="19202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9582912" y="3794760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9582912" y="4215384"/>
            <a:ext cx="1682496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A857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E3A857"/>
                </a:solidFill>
                <a:latin typeface="Calibri"/>
                <a:ea typeface="Calibri"/>
                <a:cs typeface="Calibri"/>
                <a:sym typeface="Calibri"/>
              </a:rPr>
              <a:t>●  </a:t>
            </a: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Validación con usuarios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7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9F5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8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C5F2D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2C5F2D"/>
                </a:solidFill>
                <a:latin typeface="Cambria"/>
                <a:ea typeface="Cambria"/>
                <a:cs typeface="Cambria"/>
                <a:sym typeface="Cambria"/>
              </a:rPr>
              <a:t>Tiempo de trabajo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8"/>
          <p:cNvSpPr/>
          <p:nvPr/>
        </p:nvSpPr>
        <p:spPr>
          <a:xfrm>
            <a:off x="548640" y="914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A6B5A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A6B5A"/>
                </a:solidFill>
                <a:latin typeface="Calibri"/>
                <a:ea typeface="Calibri"/>
                <a:cs typeface="Calibri"/>
                <a:sym typeface="Calibri"/>
              </a:rPr>
              <a:t>Carta Gantt estimada — 16 semanas de desarrollo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4" name="Google Shape;264;p8"/>
          <p:cNvCxnSpPr/>
          <p:nvPr/>
        </p:nvCxnSpPr>
        <p:spPr>
          <a:xfrm>
            <a:off x="416052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5" name="Google Shape;265;p8"/>
          <p:cNvSpPr/>
          <p:nvPr/>
        </p:nvSpPr>
        <p:spPr>
          <a:xfrm>
            <a:off x="393192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6" name="Google Shape;266;p8"/>
          <p:cNvCxnSpPr/>
          <p:nvPr/>
        </p:nvCxnSpPr>
        <p:spPr>
          <a:xfrm>
            <a:off x="502348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7" name="Google Shape;267;p8"/>
          <p:cNvSpPr/>
          <p:nvPr/>
        </p:nvSpPr>
        <p:spPr>
          <a:xfrm>
            <a:off x="479488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68" name="Google Shape;268;p8"/>
          <p:cNvCxnSpPr/>
          <p:nvPr/>
        </p:nvCxnSpPr>
        <p:spPr>
          <a:xfrm>
            <a:off x="588645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9" name="Google Shape;269;p8"/>
          <p:cNvSpPr/>
          <p:nvPr/>
        </p:nvSpPr>
        <p:spPr>
          <a:xfrm>
            <a:off x="565785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0" name="Google Shape;270;p8"/>
          <p:cNvCxnSpPr/>
          <p:nvPr/>
        </p:nvCxnSpPr>
        <p:spPr>
          <a:xfrm>
            <a:off x="674941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1" name="Google Shape;271;p8"/>
          <p:cNvSpPr/>
          <p:nvPr/>
        </p:nvSpPr>
        <p:spPr>
          <a:xfrm>
            <a:off x="652081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2" name="Google Shape;272;p8"/>
          <p:cNvCxnSpPr/>
          <p:nvPr/>
        </p:nvCxnSpPr>
        <p:spPr>
          <a:xfrm>
            <a:off x="761238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3" name="Google Shape;273;p8"/>
          <p:cNvSpPr/>
          <p:nvPr/>
        </p:nvSpPr>
        <p:spPr>
          <a:xfrm>
            <a:off x="738378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4" name="Google Shape;274;p8"/>
          <p:cNvCxnSpPr/>
          <p:nvPr/>
        </p:nvCxnSpPr>
        <p:spPr>
          <a:xfrm>
            <a:off x="847534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" name="Google Shape;275;p8"/>
          <p:cNvSpPr/>
          <p:nvPr/>
        </p:nvSpPr>
        <p:spPr>
          <a:xfrm>
            <a:off x="824674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6" name="Google Shape;276;p8"/>
          <p:cNvCxnSpPr/>
          <p:nvPr/>
        </p:nvCxnSpPr>
        <p:spPr>
          <a:xfrm>
            <a:off x="933831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" name="Google Shape;277;p8"/>
          <p:cNvSpPr/>
          <p:nvPr/>
        </p:nvSpPr>
        <p:spPr>
          <a:xfrm>
            <a:off x="910971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78" name="Google Shape;278;p8"/>
          <p:cNvCxnSpPr/>
          <p:nvPr/>
        </p:nvCxnSpPr>
        <p:spPr>
          <a:xfrm>
            <a:off x="10201275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9" name="Google Shape;279;p8"/>
          <p:cNvSpPr/>
          <p:nvPr/>
        </p:nvSpPr>
        <p:spPr>
          <a:xfrm>
            <a:off x="9972675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0" name="Google Shape;280;p8"/>
          <p:cNvCxnSpPr/>
          <p:nvPr/>
        </p:nvCxnSpPr>
        <p:spPr>
          <a:xfrm>
            <a:off x="11064240" y="1691640"/>
            <a:ext cx="0" cy="4059936"/>
          </a:xfrm>
          <a:prstGeom prst="straightConnector1">
            <a:avLst/>
          </a:prstGeom>
          <a:noFill/>
          <a:ln cap="flat" cmpd="sng" w="12700">
            <a:solidFill>
              <a:srgbClr val="DCE3D6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" name="Google Shape;281;p8"/>
          <p:cNvSpPr/>
          <p:nvPr/>
        </p:nvSpPr>
        <p:spPr>
          <a:xfrm>
            <a:off x="10835640" y="57332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/>
          <p:nvPr/>
        </p:nvSpPr>
        <p:spPr>
          <a:xfrm>
            <a:off x="457200" y="1719072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lipboard.png" id="283" name="Google Shape;283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072" y="183794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8"/>
          <p:cNvSpPr/>
          <p:nvPr/>
        </p:nvSpPr>
        <p:spPr>
          <a:xfrm>
            <a:off x="1097280" y="169164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Levantamiento y análisis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160520" y="1801368"/>
            <a:ext cx="862965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8"/>
          <p:cNvSpPr/>
          <p:nvPr/>
        </p:nvSpPr>
        <p:spPr>
          <a:xfrm>
            <a:off x="4160520" y="1801368"/>
            <a:ext cx="862965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457200" y="2286000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layout.png" id="288" name="Google Shape;28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6072" y="240487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8"/>
          <p:cNvSpPr/>
          <p:nvPr/>
        </p:nvSpPr>
        <p:spPr>
          <a:xfrm>
            <a:off x="1097280" y="2258568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Diseño (BD y módulos)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5023485" y="2368296"/>
            <a:ext cx="862965" cy="347472"/>
          </a:xfrm>
          <a:prstGeom prst="roundRect">
            <a:avLst>
              <a:gd fmla="val 15789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8"/>
          <p:cNvSpPr/>
          <p:nvPr/>
        </p:nvSpPr>
        <p:spPr>
          <a:xfrm>
            <a:off x="5023485" y="2368296"/>
            <a:ext cx="862965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/>
          <p:nvPr/>
        </p:nvSpPr>
        <p:spPr>
          <a:xfrm>
            <a:off x="457200" y="2852928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.png" id="293" name="Google Shape;293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6072" y="297180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8"/>
          <p:cNvSpPr/>
          <p:nvPr/>
        </p:nvSpPr>
        <p:spPr>
          <a:xfrm>
            <a:off x="1097280" y="2825496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Sprint 1 — Trabajadores / Contratos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5886450" y="2935224"/>
            <a:ext cx="1294448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8"/>
          <p:cNvSpPr/>
          <p:nvPr/>
        </p:nvSpPr>
        <p:spPr>
          <a:xfrm>
            <a:off x="5886450" y="2935224"/>
            <a:ext cx="1294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/>
          <p:nvPr/>
        </p:nvSpPr>
        <p:spPr>
          <a:xfrm>
            <a:off x="457200" y="3419856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dollar.png" id="298" name="Google Shape;298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6072" y="3538728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p8"/>
          <p:cNvSpPr/>
          <p:nvPr/>
        </p:nvSpPr>
        <p:spPr>
          <a:xfrm>
            <a:off x="1097280" y="3392424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Sprint 2 — Pagos / Vehículos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8"/>
          <p:cNvSpPr/>
          <p:nvPr/>
        </p:nvSpPr>
        <p:spPr>
          <a:xfrm>
            <a:off x="7180898" y="3502152"/>
            <a:ext cx="1294448" cy="347472"/>
          </a:xfrm>
          <a:prstGeom prst="roundRect">
            <a:avLst>
              <a:gd fmla="val 15789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8"/>
          <p:cNvSpPr/>
          <p:nvPr/>
        </p:nvSpPr>
        <p:spPr>
          <a:xfrm>
            <a:off x="7180898" y="3502152"/>
            <a:ext cx="1294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8"/>
          <p:cNvSpPr/>
          <p:nvPr/>
        </p:nvSpPr>
        <p:spPr>
          <a:xfrm>
            <a:off x="457200" y="3986784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s.png" id="303" name="Google Shape;30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6072" y="4105656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/>
          <p:nvPr/>
        </p:nvSpPr>
        <p:spPr>
          <a:xfrm>
            <a:off x="1097280" y="3959352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Sprint 3 — Clientes / Servicios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475345" y="4069080"/>
            <a:ext cx="1294448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8"/>
          <p:cNvSpPr/>
          <p:nvPr/>
        </p:nvSpPr>
        <p:spPr>
          <a:xfrm>
            <a:off x="8475345" y="4069080"/>
            <a:ext cx="1294448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457200" y="4553712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checkSquare.png" id="308" name="Google Shape;308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76072" y="4672584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8"/>
          <p:cNvSpPr/>
          <p:nvPr/>
        </p:nvSpPr>
        <p:spPr>
          <a:xfrm>
            <a:off x="1097280" y="4526280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Pruebas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9769793" y="4636008"/>
            <a:ext cx="862965" cy="347472"/>
          </a:xfrm>
          <a:prstGeom prst="roundRect">
            <a:avLst>
              <a:gd fmla="val 15789" name="adj"/>
            </a:avLst>
          </a:prstGeom>
          <a:solidFill>
            <a:srgbClr val="97BC6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8"/>
          <p:cNvSpPr/>
          <p:nvPr/>
        </p:nvSpPr>
        <p:spPr>
          <a:xfrm>
            <a:off x="9769793" y="4636008"/>
            <a:ext cx="862965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457200" y="5120640"/>
            <a:ext cx="512064" cy="512064"/>
          </a:xfrm>
          <a:prstGeom prst="ellipse">
            <a:avLst/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cons/userCheck.png" id="313" name="Google Shape;313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76072" y="5239512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8"/>
          <p:cNvSpPr/>
          <p:nvPr/>
        </p:nvSpPr>
        <p:spPr>
          <a:xfrm>
            <a:off x="1097280" y="5093208"/>
            <a:ext cx="29260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A1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1F2A1F"/>
                </a:solidFill>
                <a:latin typeface="Calibri"/>
                <a:ea typeface="Calibri"/>
                <a:cs typeface="Calibri"/>
                <a:sym typeface="Calibri"/>
              </a:rPr>
              <a:t>Implementación y validación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10632758" y="5202936"/>
            <a:ext cx="431483" cy="347472"/>
          </a:xfrm>
          <a:prstGeom prst="roundRect">
            <a:avLst>
              <a:gd fmla="val 15789" name="adj"/>
            </a:avLst>
          </a:prstGeom>
          <a:solidFill>
            <a:srgbClr val="2C5F2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8"/>
          <p:cNvSpPr/>
          <p:nvPr/>
        </p:nvSpPr>
        <p:spPr>
          <a:xfrm>
            <a:off x="10632758" y="5202936"/>
            <a:ext cx="431483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 sem.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457200" y="6528816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Sistema de Gestión Administrativa Agrícola  ·  Trabajo de Título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"/>
          <p:cNvSpPr/>
          <p:nvPr/>
        </p:nvSpPr>
        <p:spPr>
          <a:xfrm>
            <a:off x="11457432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A9A8A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A9A8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2026-09-01T22:17:27Z</dcterms:created>
  <dc:creator>PptxGenJS</dc:creator>
</cp:coreProperties>
</file>