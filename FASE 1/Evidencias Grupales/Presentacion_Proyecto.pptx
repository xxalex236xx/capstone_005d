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lhRDVZiDZxEXmMw6a1XKmI+8P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</c:v>
                </c:pt>
              </c:strCache>
            </c:strRef>
          </c:tx>
          <c:spPr>
            <a:solidFill>
              <a:srgbClr val="C0504D"/>
            </a:solidFill>
            <a:ln w="28575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31/08</c:v>
                  </c:pt>
                  <c:pt idx="1">
                    <c:v>01/09</c:v>
                  </c:pt>
                  <c:pt idx="2">
                    <c:v>02/09</c:v>
                  </c:pt>
                  <c:pt idx="3">
                    <c:v>03/09</c:v>
                  </c:pt>
                  <c:pt idx="4">
                    <c:v>04/09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1012.6</c:v>
                </c:pt>
                <c:pt idx="1">
                  <c:v>749.6</c:v>
                </c:pt>
                <c:pt idx="2">
                  <c:v>889.8</c:v>
                </c:pt>
                <c:pt idx="3">
                  <c:v>707.4</c:v>
                </c:pt>
                <c:pt idx="4">
                  <c:v>709.9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06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0"/>
          <c:min val="650"/>
        </c:scaling>
        <c:delete val="0"/>
        <c:axPos val="l"/>
        <c:majorGridlines>
          <c:spPr>
            <a:ln w="12700" cap="flat">
              <a:solidFill>
                <a:srgbClr val="D7DED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06A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Presentar el nombre oficial indicado por el profesor. Explicar que el proyecto mantiene gestión administrativa e incorpora IA como componente central para analizar rendimiento en cosecha.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Decir que el proyecto no se descartó, se reformuló. Doña Laura necesita gestión administrativa, pero ahora el foco técnico es usar los datos de cosecha para apoyar decisiones.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la problemática como un problema de gestión de datos y apoyo a la decisión. Evitar decir que la IA contratará o despedirá personas.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que ya existen datos reales, pero que la primera tarea técnica es normalizarlos y ampliar el historial para entrenar un modelo más confiable.</a:t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Presentar el objetivo y aclarar el alcance: gestión administrativa más análisis inteligente. La IA apoya, no decide.</a:t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el flujo del módulo IA y que el modelo definitivo se elige después de analizar datos y comparar métricas.</a:t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la solución en tres áreas conectadas: gestión, datos e IA. La solución sigue siendo administrativa, pero ahora se apoya en datos.</a:t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que esta arquitectura reemplaza la idea de aplicación de escritorio simple, porque permite API, base de datos, ETL, IA y dashboard.</a:t>
            </a:r>
            <a:endParaRPr/>
          </a:p>
        </p:txBody>
      </p:sp>
      <p:sp>
        <p:nvSpPr>
          <p:cNvPr id="200" name="Google Shape;2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Aclarar que Scrum cubre el sistema y CRISP-DM cubre el trabajo con datos e IA. Pasar rápido por los sprints.</a:t>
            </a:r>
            <a:endParaRPr/>
          </a:p>
        </p:txBody>
      </p:sp>
      <p:sp>
        <p:nvSpPr>
          <p:cNvPr id="238" name="Google Shape;2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Cerrar destacando las evidencias exigidas: sistema, base de datos, dataset, modelo, dashboard y validación.</a:t>
            </a:r>
            <a:endParaRPr/>
          </a:p>
        </p:txBody>
      </p:sp>
      <p:sp>
        <p:nvSpPr>
          <p:cNvPr id="270" name="Google Shape;2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3A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less_unzip/ppt/media/image1.jpg" id="16" name="Google Shape;16;p1"/>
          <p:cNvPicPr preferRelativeResize="0"/>
          <p:nvPr/>
        </p:nvPicPr>
        <p:blipFill rotWithShape="1">
          <a:blip r:embed="rId3">
            <a:alphaModFix/>
          </a:blip>
          <a:srcRect b="15000" l="9000" r="-957" t="13000"/>
          <a:stretch/>
        </p:blipFill>
        <p:spPr>
          <a:xfrm>
            <a:off x="5623560" y="0"/>
            <a:ext cx="65681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0" y="0"/>
            <a:ext cx="5623560" cy="6858000"/>
          </a:xfrm>
          <a:prstGeom prst="rect">
            <a:avLst/>
          </a:prstGeom>
          <a:solidFill>
            <a:srgbClr val="0A3A2A">
              <a:alpha val="98039"/>
            </a:srgbClr>
          </a:solidFill>
          <a:ln cap="flat" cmpd="sng" w="12700">
            <a:solidFill>
              <a:srgbClr val="0A3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94360" y="585216"/>
            <a:ext cx="2331720" cy="384048"/>
          </a:xfrm>
          <a:prstGeom prst="roundRect">
            <a:avLst>
              <a:gd fmla="val 19048" name="adj"/>
            </a:avLst>
          </a:prstGeom>
          <a:solidFill>
            <a:srgbClr val="C48F32"/>
          </a:solidFill>
          <a:ln cap="flat" cmpd="sng" w="12700">
            <a:solidFill>
              <a:srgbClr val="CED8C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04088" y="667512"/>
            <a:ext cx="211226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31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4231C"/>
                </a:solidFill>
                <a:latin typeface="Arial"/>
                <a:ea typeface="Arial"/>
                <a:cs typeface="Arial"/>
                <a:sym typeface="Arial"/>
              </a:rPr>
              <a:t>TRABAJO DE TÍTULO · APT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94360" y="1371600"/>
            <a:ext cx="46634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Play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Solución de Gestión</a:t>
            </a:r>
            <a:endParaRPr b="0" i="0" sz="2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Play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Administrativa para la</a:t>
            </a:r>
            <a:endParaRPr b="0" i="0" sz="2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Play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Empresa Doña Laura</a:t>
            </a:r>
            <a:endParaRPr b="0" i="0" sz="2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12648" y="3218688"/>
            <a:ext cx="4617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E9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E9EFE9"/>
                </a:solidFill>
                <a:latin typeface="Arial"/>
                <a:ea typeface="Arial"/>
                <a:cs typeface="Arial"/>
                <a:sym typeface="Arial"/>
              </a:rPr>
              <a:t>Gestión agrícola con análisis inteligente de rendimiento en cosecha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12650" y="5303023"/>
            <a:ext cx="45264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D6"/>
              </a:buClr>
              <a:buSzPts val="680"/>
              <a:buFont typeface="Arial"/>
              <a:buNone/>
            </a:pPr>
            <a:r>
              <a:rPr b="0" i="0" lang="en-US" sz="980" u="none" cap="none" strike="noStrike">
                <a:solidFill>
                  <a:srgbClr val="D7DDD6"/>
                </a:solidFill>
                <a:latin typeface="Arial"/>
                <a:ea typeface="Arial"/>
                <a:cs typeface="Arial"/>
                <a:sym typeface="Arial"/>
              </a:rPr>
              <a:t>Sebastián Valenzuela · Alex Núñez · Alexander Vivanco · Diego Álvarez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D6"/>
              </a:buClr>
              <a:buSzPts val="680"/>
              <a:buFont typeface="Arial"/>
              <a:buNone/>
            </a:pPr>
            <a:r>
              <a:rPr b="0" i="0" lang="en-US" sz="980" u="none" cap="none" strike="noStrike">
                <a:solidFill>
                  <a:srgbClr val="D7DDD6"/>
                </a:solidFill>
                <a:latin typeface="Arial"/>
                <a:ea typeface="Arial"/>
                <a:cs typeface="Arial"/>
                <a:sym typeface="Arial"/>
              </a:rPr>
              <a:t>Profesor guía: Cristian Eduardo Molina Pedernera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594360" y="393192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2450"/>
              <a:buFont typeface="Play"/>
              <a:buNone/>
            </a:pPr>
            <a:r>
              <a:rPr b="1" i="0" lang="en-US" sz="2450" u="none" cap="none" strike="noStrike">
                <a:solidFill>
                  <a:srgbClr val="0A3A2A"/>
                </a:solidFill>
                <a:latin typeface="Play"/>
                <a:ea typeface="Play"/>
                <a:cs typeface="Play"/>
                <a:sym typeface="Play"/>
              </a:rPr>
              <a:t>1. Contexto</a:t>
            </a:r>
            <a:endParaRPr b="0" i="0" sz="2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12648" y="859536"/>
            <a:ext cx="9052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De una gestión basada en planillas a una gestión basada en datos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931920" y="1481328"/>
            <a:ext cx="6812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1C"/>
              </a:buClr>
              <a:buSzPts val="1430"/>
              <a:buFont typeface="Arial"/>
              <a:buNone/>
            </a:pPr>
            <a:r>
              <a:rPr b="0" i="0" lang="en-US" sz="1430" u="none" cap="none" strike="noStrike">
                <a:solidFill>
                  <a:srgbClr val="14231C"/>
                </a:solidFill>
                <a:latin typeface="Arial"/>
                <a:ea typeface="Arial"/>
                <a:cs typeface="Arial"/>
                <a:sym typeface="Arial"/>
              </a:rPr>
              <a:t>Doña Laura trabaja en el rubro agrícola y registra información de cosecha en planillas. La oportunidad del proyecto es ordenar esos datos y convertirlos en indicadores útiles para la gestión.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977640" y="2514600"/>
            <a:ext cx="2514600" cy="1115568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178808" y="2697480"/>
            <a:ext cx="21122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Situación actual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178808" y="3090672"/>
            <a:ext cx="21122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60"/>
              <a:buFont typeface="Arial"/>
              <a:buNone/>
            </a:pPr>
            <a:r>
              <a:rPr b="0" i="0" lang="en-US" sz="106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Registros administrativos y productivos dispersos en planillas.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183880" y="2514600"/>
            <a:ext cx="2743200" cy="1115568"/>
          </a:xfrm>
          <a:prstGeom prst="roundRect">
            <a:avLst>
              <a:gd fmla="val 6557" name="adj"/>
            </a:avLst>
          </a:prstGeom>
          <a:solidFill>
            <a:srgbClr val="E5EEE1"/>
          </a:solidFill>
          <a:ln cap="flat" cmpd="sng" w="12700">
            <a:solidFill>
              <a:srgbClr val="D9DDC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8385048" y="2697480"/>
            <a:ext cx="23408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Nuevo enfoque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385048" y="3090672"/>
            <a:ext cx="23408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60"/>
              <a:buFont typeface="Arial"/>
              <a:buNone/>
            </a:pPr>
            <a:r>
              <a:rPr b="0" i="0" lang="en-US" sz="106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Medir producción, analizar rendimiento y apoyar decisiones.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903720" y="285292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8F3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48F3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315968" y="4343400"/>
            <a:ext cx="6172200" cy="658368"/>
          </a:xfrm>
          <a:prstGeom prst="roundRect">
            <a:avLst>
              <a:gd fmla="val 11111" name="adj"/>
            </a:avLst>
          </a:prstGeom>
          <a:solidFill>
            <a:srgbClr val="FAF8F3"/>
          </a:solidFill>
          <a:ln cap="flat" cmpd="sng" w="12700">
            <a:solidFill>
              <a:srgbClr val="D9DDC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544568" y="4526280"/>
            <a:ext cx="5715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Registrar · Medir · Analizar · Apoyar la decisión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206240" y="5349240"/>
            <a:ext cx="6766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El proyecto no cambia de nombre: evoluciona de una solución administrativa a una solución con datos e IA.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17C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17C"/>
                </a:solidFill>
                <a:latin typeface="Arial"/>
                <a:ea typeface="Arial"/>
                <a:cs typeface="Arial"/>
                <a:sym typeface="Arial"/>
              </a:rPr>
              <a:t>Solución de Gestión Administrativa para la Empresa Doña Laura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1375136" y="6455664"/>
            <a:ext cx="338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17C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7A817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2" title="WhatsApp Image 2026-09-07 at 10.15.20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750" y="1423500"/>
            <a:ext cx="3406250" cy="454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594360" y="393192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2450"/>
              <a:buFont typeface="Play"/>
              <a:buNone/>
            </a:pPr>
            <a:r>
              <a:rPr b="1" i="0" lang="en-US" sz="2450" u="none" cap="none" strike="noStrike">
                <a:solidFill>
                  <a:srgbClr val="0A3A2A"/>
                </a:solidFill>
                <a:latin typeface="Play"/>
                <a:ea typeface="Play"/>
                <a:cs typeface="Play"/>
                <a:sym typeface="Play"/>
              </a:rPr>
              <a:t>2. Problemática</a:t>
            </a:r>
            <a:endParaRPr b="0" i="0" sz="2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12648" y="859536"/>
            <a:ext cx="9052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La empresa registra producción, pero no cuenta con análisis objetivo del rendimiento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31520" y="1673352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DATOS HAY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31520" y="23317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B3D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9A4B3D"/>
                </a:solidFill>
                <a:latin typeface="Arial"/>
                <a:ea typeface="Arial"/>
                <a:cs typeface="Arial"/>
                <a:sym typeface="Arial"/>
              </a:rPr>
              <a:t>INDICADORES NO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777240" y="324612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1C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4231C"/>
                </a:solidFill>
                <a:latin typeface="Arial"/>
                <a:ea typeface="Arial"/>
                <a:cs typeface="Arial"/>
                <a:sym typeface="Arial"/>
              </a:rPr>
              <a:t>Revisar planillas manualmente dificulta comparar trabajadores, detectar tendencias y considerar el contexto de cada jornada.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629400" y="1783080"/>
            <a:ext cx="82296" cy="82296"/>
          </a:xfrm>
          <a:prstGeom prst="ellipse">
            <a:avLst/>
          </a:prstGeom>
          <a:solidFill>
            <a:srgbClr val="C48F32"/>
          </a:solidFill>
          <a:ln cap="flat" cmpd="sng" w="12700">
            <a:solidFill>
              <a:srgbClr val="C48F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6793992" y="1783080"/>
            <a:ext cx="4041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1C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4231C"/>
                </a:solidFill>
                <a:latin typeface="Arial"/>
                <a:ea typeface="Arial"/>
                <a:cs typeface="Arial"/>
                <a:sym typeface="Arial"/>
              </a:rPr>
              <a:t>Comparaciones poco objetivas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629400" y="2176272"/>
            <a:ext cx="82296" cy="82296"/>
          </a:xfrm>
          <a:prstGeom prst="ellipse">
            <a:avLst/>
          </a:prstGeom>
          <a:solidFill>
            <a:srgbClr val="C48F32"/>
          </a:solidFill>
          <a:ln cap="flat" cmpd="sng" w="12700">
            <a:solidFill>
              <a:srgbClr val="C48F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6793992" y="2130552"/>
            <a:ext cx="4041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1C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4231C"/>
                </a:solidFill>
                <a:latin typeface="Arial"/>
                <a:ea typeface="Arial"/>
                <a:cs typeface="Arial"/>
                <a:sym typeface="Arial"/>
              </a:rPr>
              <a:t>Tendencias difíciles de detectar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629400" y="2569464"/>
            <a:ext cx="82296" cy="82296"/>
          </a:xfrm>
          <a:prstGeom prst="ellipse">
            <a:avLst/>
          </a:prstGeom>
          <a:solidFill>
            <a:srgbClr val="C48F32"/>
          </a:solidFill>
          <a:ln cap="flat" cmpd="sng" w="12700">
            <a:solidFill>
              <a:srgbClr val="C48F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793992" y="2478024"/>
            <a:ext cx="4041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1C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4231C"/>
                </a:solidFill>
                <a:latin typeface="Arial"/>
                <a:ea typeface="Arial"/>
                <a:cs typeface="Arial"/>
                <a:sym typeface="Arial"/>
              </a:rPr>
              <a:t>Falta de contexto: sector y labor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629400" y="2962656"/>
            <a:ext cx="82296" cy="82296"/>
          </a:xfrm>
          <a:prstGeom prst="ellipse">
            <a:avLst/>
          </a:prstGeom>
          <a:solidFill>
            <a:srgbClr val="C48F32"/>
          </a:solidFill>
          <a:ln cap="flat" cmpd="sng" w="12700">
            <a:solidFill>
              <a:srgbClr val="C48F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793992" y="2825496"/>
            <a:ext cx="4041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1C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4231C"/>
                </a:solidFill>
                <a:latin typeface="Arial"/>
                <a:ea typeface="Arial"/>
                <a:cs typeface="Arial"/>
                <a:sym typeface="Arial"/>
              </a:rPr>
              <a:t>Decisiones apoyadas en revisión manual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60120" y="5074920"/>
            <a:ext cx="973836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1188720" y="5257800"/>
            <a:ext cx="9281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La IA no reemplaza al encargado: entrega evidencia, alertas e indicadores.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17C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17C"/>
                </a:solidFill>
                <a:latin typeface="Arial"/>
                <a:ea typeface="Arial"/>
                <a:cs typeface="Arial"/>
                <a:sym typeface="Arial"/>
              </a:rPr>
              <a:t>Solución de Gestión Administrativa para la Empresa Doña Laura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1375136" y="6455664"/>
            <a:ext cx="338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17C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7A817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/>
          <p:nvPr/>
        </p:nvSpPr>
        <p:spPr>
          <a:xfrm>
            <a:off x="594360" y="393192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2450"/>
              <a:buFont typeface="Play"/>
              <a:buNone/>
            </a:pPr>
            <a:r>
              <a:rPr b="1" i="0" lang="en-US" sz="2450" u="none" cap="none" strike="noStrike">
                <a:solidFill>
                  <a:srgbClr val="0A3A2A"/>
                </a:solidFill>
                <a:latin typeface="Play"/>
                <a:ea typeface="Play"/>
                <a:cs typeface="Play"/>
                <a:sym typeface="Play"/>
              </a:rPr>
              <a:t>3. Datos reales de cosecha</a:t>
            </a:r>
            <a:endParaRPr b="0" i="0" sz="2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12648" y="859536"/>
            <a:ext cx="9052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Las planillas entregan una base inicial, pero deben normalizarse antes de aplicar IA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31520" y="1417320"/>
            <a:ext cx="1691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2900"/>
              <a:buFont typeface="Play"/>
              <a:buNone/>
            </a:pPr>
            <a:r>
              <a:rPr b="1" i="0" lang="en-US" sz="2900" u="none" cap="none" strike="noStrike">
                <a:solidFill>
                  <a:srgbClr val="0A3A2A"/>
                </a:solidFill>
                <a:latin typeface="Play"/>
                <a:ea typeface="Play"/>
                <a:cs typeface="Play"/>
                <a:sym typeface="Play"/>
              </a:rPr>
              <a:t>51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31520" y="1929384"/>
            <a:ext cx="1691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registros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trabajador-jornada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697480" y="1417320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2900"/>
              <a:buFont typeface="Play"/>
              <a:buNone/>
            </a:pPr>
            <a:r>
              <a:rPr b="1" i="0" lang="en-US" sz="2900" u="none" cap="none" strike="noStrike">
                <a:solidFill>
                  <a:srgbClr val="0A3A2A"/>
                </a:solidFill>
                <a:latin typeface="Play"/>
                <a:ea typeface="Play"/>
                <a:cs typeface="Play"/>
                <a:sym typeface="Play"/>
              </a:rPr>
              <a:t>14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2697480" y="1929384"/>
            <a:ext cx="1417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trabajadores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343400" y="1417320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2900"/>
              <a:buFont typeface="Play"/>
              <a:buNone/>
            </a:pPr>
            <a:r>
              <a:rPr b="1" i="0" lang="en-US" sz="2900" u="none" cap="none" strike="noStrike">
                <a:solidFill>
                  <a:srgbClr val="0A3A2A"/>
                </a:solidFill>
                <a:latin typeface="Play"/>
                <a:ea typeface="Play"/>
                <a:cs typeface="Play"/>
                <a:sym typeface="Play"/>
              </a:rPr>
              <a:t>5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343400" y="1929384"/>
            <a:ext cx="1417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jornadas útiles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868680" y="32461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Promedio diario del grupo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0" name="Google Shape;80;p4"/>
          <p:cNvGraphicFramePr/>
          <p:nvPr/>
        </p:nvGraphicFramePr>
        <p:xfrm>
          <a:off x="777240" y="3493008"/>
          <a:ext cx="4800600" cy="1572768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81" name="Google Shape;81;p4"/>
          <p:cNvSpPr/>
          <p:nvPr/>
        </p:nvSpPr>
        <p:spPr>
          <a:xfrm>
            <a:off x="6720840" y="16916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F3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48F32"/>
                </a:solidFill>
                <a:latin typeface="Arial"/>
                <a:ea typeface="Arial"/>
                <a:cs typeface="Arial"/>
                <a:sym typeface="Arial"/>
              </a:rPr>
              <a:t>Lectura clave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6720840" y="2029968"/>
            <a:ext cx="4480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El rendimiento promedio cambia según la jornada. Por eso no basta mirar kilos brutos: se debe considerar contexto.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720840" y="3730752"/>
            <a:ext cx="3657600" cy="896112"/>
          </a:xfrm>
          <a:prstGeom prst="roundRect">
            <a:avLst>
              <a:gd fmla="val 8163" name="adj"/>
            </a:avLst>
          </a:prstGeom>
          <a:solidFill>
            <a:srgbClr val="F1E2D7"/>
          </a:solidFill>
          <a:ln cap="flat" cmpd="sng" w="12700">
            <a:solidFill>
              <a:srgbClr val="E6C8B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922008" y="3913632"/>
            <a:ext cx="32552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B3D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9A4B3D"/>
                </a:solidFill>
                <a:latin typeface="Arial"/>
                <a:ea typeface="Arial"/>
                <a:cs typeface="Arial"/>
                <a:sym typeface="Arial"/>
              </a:rPr>
              <a:t>Falta por registrar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922008" y="4306824"/>
            <a:ext cx="32552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B3D"/>
              </a:buClr>
              <a:buSzPts val="1060"/>
              <a:buFont typeface="Arial"/>
              <a:buNone/>
            </a:pPr>
            <a:r>
              <a:rPr b="0" i="0" lang="en-US" sz="1060" u="none" cap="none" strike="noStrike">
                <a:solidFill>
                  <a:srgbClr val="9A4B3D"/>
                </a:solidFill>
                <a:latin typeface="Arial"/>
                <a:ea typeface="Arial"/>
                <a:cs typeface="Arial"/>
                <a:sym typeface="Arial"/>
              </a:rPr>
              <a:t>Sector y labor por trabajador en cada jornada.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720840" y="4965192"/>
            <a:ext cx="4343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Con dos semanas se puede prototipar; el modelo final requiere más historial.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17C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17C"/>
                </a:solidFill>
                <a:latin typeface="Arial"/>
                <a:ea typeface="Arial"/>
                <a:cs typeface="Arial"/>
                <a:sym typeface="Arial"/>
              </a:rPr>
              <a:t>Solución de Gestión Administrativa para la Empresa Doña Laura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1375136" y="6455664"/>
            <a:ext cx="338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17C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7A817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/>
          <p:nvPr/>
        </p:nvSpPr>
        <p:spPr>
          <a:xfrm>
            <a:off x="594360" y="393192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2450"/>
              <a:buFont typeface="Play"/>
              <a:buNone/>
            </a:pPr>
            <a:r>
              <a:rPr b="1" i="0" lang="en-US" sz="2450" u="none" cap="none" strike="noStrike">
                <a:solidFill>
                  <a:srgbClr val="0A3A2A"/>
                </a:solidFill>
                <a:latin typeface="Play"/>
                <a:ea typeface="Play"/>
                <a:cs typeface="Play"/>
                <a:sym typeface="Play"/>
              </a:rPr>
              <a:t>4. Objetivo y alcance</a:t>
            </a:r>
            <a:endParaRPr b="0" i="0" sz="2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12648" y="859536"/>
            <a:ext cx="9052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Centralizar la operación agrícola e incorporar IA para analizar rendimiento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097280" y="1481328"/>
            <a:ext cx="996696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1325880" y="1664208"/>
            <a:ext cx="9509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Diseñar e implementar una solución de gestión que registre la operación agrícola y use IA para transformar datos de cosecha en indicadores de rendimiento.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960120" y="2907792"/>
            <a:ext cx="214884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1161288" y="3090672"/>
            <a:ext cx="1746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Centralizar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161288" y="3483864"/>
            <a:ext cx="1746504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60"/>
              <a:buFont typeface="Arial"/>
              <a:buNone/>
            </a:pPr>
            <a:r>
              <a:rPr b="0" i="0" lang="en-US" sz="106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Trabajadores, sectores y jornadas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182112" y="327355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8F3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48F3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730752" y="2907792"/>
            <a:ext cx="214884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3931920" y="3090672"/>
            <a:ext cx="1746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Registrar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931920" y="3483864"/>
            <a:ext cx="1746504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60"/>
              <a:buFont typeface="Arial"/>
              <a:buNone/>
            </a:pPr>
            <a:r>
              <a:rPr b="0" i="0" lang="en-US" sz="106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Producción por trabajador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952744" y="327355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8F3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48F3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501384" y="2907792"/>
            <a:ext cx="2148840" cy="1143000"/>
          </a:xfrm>
          <a:prstGeom prst="roundRect">
            <a:avLst>
              <a:gd fmla="val 6400" name="adj"/>
            </a:avLst>
          </a:prstGeom>
          <a:solidFill>
            <a:srgbClr val="E5EEE1"/>
          </a:solidFill>
          <a:ln cap="flat" cmpd="sng" w="12700">
            <a:solidFill>
              <a:srgbClr val="D9DDC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6702552" y="3090672"/>
            <a:ext cx="1746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Analizar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702552" y="3483864"/>
            <a:ext cx="1746504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60"/>
              <a:buFont typeface="Arial"/>
              <a:buNone/>
            </a:pPr>
            <a:r>
              <a:rPr b="0" i="0" lang="en-US" sz="106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Rendimiento esperado vs. real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8723376" y="327355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8F3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48F3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9272016" y="2907792"/>
            <a:ext cx="2148840" cy="1143000"/>
          </a:xfrm>
          <a:prstGeom prst="roundRect">
            <a:avLst>
              <a:gd fmla="val 6400" name="adj"/>
            </a:avLst>
          </a:prstGeom>
          <a:solidFill>
            <a:srgbClr val="E5EEE1"/>
          </a:solidFill>
          <a:ln cap="flat" cmpd="sng" w="12700">
            <a:solidFill>
              <a:srgbClr val="D9DDC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9473184" y="3090672"/>
            <a:ext cx="1746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Apoyar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9473184" y="3483864"/>
            <a:ext cx="1746504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60"/>
              <a:buFont typeface="Arial"/>
              <a:buNone/>
            </a:pPr>
            <a:r>
              <a:rPr b="0" i="0" lang="en-US" sz="106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Indicadores para el encargado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2468880" y="5212080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4B3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9A4B3D"/>
                </a:solidFill>
                <a:latin typeface="Arial"/>
                <a:ea typeface="Arial"/>
                <a:cs typeface="Arial"/>
                <a:sym typeface="Arial"/>
              </a:rPr>
              <a:t>Límite: la IA no toma decisiones laborales automáticas.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17C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17C"/>
                </a:solidFill>
                <a:latin typeface="Arial"/>
                <a:ea typeface="Arial"/>
                <a:cs typeface="Arial"/>
                <a:sym typeface="Arial"/>
              </a:rPr>
              <a:t>Solución de Gestión Administrativa para la Empresa Doña Laura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1375136" y="6455664"/>
            <a:ext cx="338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17C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7A817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594360" y="393192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2450"/>
              <a:buFont typeface="Play"/>
              <a:buNone/>
            </a:pPr>
            <a:r>
              <a:rPr b="1" i="0" lang="en-US" sz="2450" u="none" cap="none" strike="noStrike">
                <a:solidFill>
                  <a:srgbClr val="0A3A2A"/>
                </a:solidFill>
                <a:latin typeface="Play"/>
                <a:ea typeface="Play"/>
                <a:cs typeface="Play"/>
                <a:sym typeface="Play"/>
              </a:rPr>
              <a:t>5. Módulo de IA</a:t>
            </a:r>
            <a:endParaRPr b="0" i="0" sz="2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12648" y="859536"/>
            <a:ext cx="9052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Comparar rendimiento real contra rendimiento esperado según contexto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868680" y="1828800"/>
            <a:ext cx="1627632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960120" y="2029968"/>
            <a:ext cx="14447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250"/>
              <a:buFont typeface="Arial"/>
              <a:buNone/>
            </a:pPr>
            <a:r>
              <a:rPr b="1" i="0" lang="en-US" sz="17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960120" y="2331720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trabajador + jornada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2542032" y="2139696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8F3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48F3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2916936" y="1828800"/>
            <a:ext cx="1627632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3008376" y="2029968"/>
            <a:ext cx="14447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250"/>
              <a:buFont typeface="Arial"/>
              <a:buNone/>
            </a:pPr>
            <a:r>
              <a:rPr b="1" i="0" lang="en-US" sz="17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Preparación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008376" y="2331720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limpieza + variables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590288" y="2139696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8F3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48F3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965192" y="1828800"/>
            <a:ext cx="1627632" cy="960120"/>
          </a:xfrm>
          <a:prstGeom prst="roundRect">
            <a:avLst>
              <a:gd fmla="val 7619" name="adj"/>
            </a:avLst>
          </a:prstGeom>
          <a:solidFill>
            <a:srgbClr val="E5EEE1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5056632" y="2029968"/>
            <a:ext cx="14447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250"/>
              <a:buFont typeface="Arial"/>
              <a:buNone/>
            </a:pPr>
            <a:r>
              <a:rPr b="1" i="0" lang="en-US" sz="17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Modelo ML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056632" y="2331720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entrenamiento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638544" y="2139696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8F3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48F3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7013448" y="1828800"/>
            <a:ext cx="1627632" cy="960120"/>
          </a:xfrm>
          <a:prstGeom prst="roundRect">
            <a:avLst>
              <a:gd fmla="val 7619" name="adj"/>
            </a:avLst>
          </a:prstGeom>
          <a:solidFill>
            <a:srgbClr val="E5EEE1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7104888" y="2029968"/>
            <a:ext cx="14447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250"/>
              <a:buFont typeface="Arial"/>
              <a:buNone/>
            </a:pPr>
            <a:r>
              <a:rPr b="1" i="0" lang="en-US" sz="17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Indicador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104888" y="2331720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cumplimiento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8686800" y="2139696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8F3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48F3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9061704" y="1828800"/>
            <a:ext cx="1627632" cy="960120"/>
          </a:xfrm>
          <a:prstGeom prst="roundRect">
            <a:avLst>
              <a:gd fmla="val 7619" name="adj"/>
            </a:avLst>
          </a:prstGeom>
          <a:solidFill>
            <a:srgbClr val="E5EEE1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9153144" y="2029968"/>
            <a:ext cx="14447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250"/>
              <a:buFont typeface="Arial"/>
              <a:buNone/>
            </a:pPr>
            <a:r>
              <a:rPr b="1" i="0" lang="en-US" sz="17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Decisión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9153144" y="2331720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encargado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005840" y="374904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F3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48F32"/>
                </a:solidFill>
                <a:latin typeface="Arial"/>
                <a:ea typeface="Arial"/>
                <a:cs typeface="Arial"/>
                <a:sym typeface="Arial"/>
              </a:rPr>
              <a:t>Ejemplo de salida del sistema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005840" y="4069080"/>
            <a:ext cx="4434840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298448" y="4297680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Esperado: 750  ·  Real: 830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298448" y="4672584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844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758447"/>
                </a:solidFill>
                <a:latin typeface="Arial"/>
                <a:ea typeface="Arial"/>
                <a:cs typeface="Arial"/>
                <a:sym typeface="Arial"/>
              </a:rPr>
              <a:t>Cumplimiento: 110,7%  ·  Nivel: alto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446520" y="4087368"/>
            <a:ext cx="4206240" cy="1078992"/>
          </a:xfrm>
          <a:prstGeom prst="roundRect">
            <a:avLst>
              <a:gd fmla="val 6780" name="adj"/>
            </a:avLst>
          </a:prstGeom>
          <a:solidFill>
            <a:srgbClr val="FAF8F3"/>
          </a:solidFill>
          <a:ln cap="flat" cmpd="sng" w="12700">
            <a:solidFill>
              <a:srgbClr val="D9DDC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6647688" y="4270248"/>
            <a:ext cx="38039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Modelos candidatos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647688" y="4663440"/>
            <a:ext cx="3803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60"/>
              <a:buFont typeface="Arial"/>
              <a:buNone/>
            </a:pPr>
            <a:r>
              <a:rPr b="0" i="0" lang="en-US" sz="106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Línea base · Regresión · Random Forest · Gradient Boosting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492240" y="5376672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Se seleccionará el modelo que supere la línea base y entregue mejores métricas.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17C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17C"/>
                </a:solidFill>
                <a:latin typeface="Arial"/>
                <a:ea typeface="Arial"/>
                <a:cs typeface="Arial"/>
                <a:sym typeface="Arial"/>
              </a:rPr>
              <a:t>Solución de Gestión Administrativa para la Empresa Doña Laura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1375136" y="6455664"/>
            <a:ext cx="338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17C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7A817C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594360" y="393192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2450"/>
              <a:buFont typeface="Play"/>
              <a:buNone/>
            </a:pPr>
            <a:r>
              <a:rPr b="1" i="0" lang="en-US" sz="2450" u="none" cap="none" strike="noStrike">
                <a:solidFill>
                  <a:srgbClr val="0A3A2A"/>
                </a:solidFill>
                <a:latin typeface="Play"/>
                <a:ea typeface="Play"/>
                <a:cs typeface="Play"/>
                <a:sym typeface="Play"/>
              </a:rPr>
              <a:t>6. Solución propuesta</a:t>
            </a:r>
            <a:endParaRPr b="0" i="0" sz="2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12648" y="859536"/>
            <a:ext cx="9052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Una plataforma con gestión, trazabilidad de datos e inteligencia aplicada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22960" y="1481328"/>
            <a:ext cx="2907792" cy="4160520"/>
          </a:xfrm>
          <a:prstGeom prst="roundRect">
            <a:avLst>
              <a:gd fmla="val 2516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987552" y="1801368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Gestión administrativa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207008" y="2514600"/>
            <a:ext cx="82296" cy="82296"/>
          </a:xfrm>
          <a:prstGeom prst="ellipse">
            <a:avLst/>
          </a:prstGeom>
          <a:solidFill>
            <a:srgbClr val="C48F32"/>
          </a:solidFill>
          <a:ln cap="flat" cmpd="sng" w="12700">
            <a:solidFill>
              <a:srgbClr val="C48F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1371600" y="2514600"/>
            <a:ext cx="2167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1C"/>
              </a:buClr>
              <a:buSzPts val="1280"/>
              <a:buFont typeface="Arial"/>
              <a:buNone/>
            </a:pPr>
            <a:r>
              <a:rPr i="0" lang="en-US" sz="1480" u="none" cap="none" strike="noStrike">
                <a:solidFill>
                  <a:srgbClr val="14231C"/>
                </a:solidFill>
              </a:rPr>
              <a:t>Trabajadores</a:t>
            </a:r>
            <a:endParaRPr i="0" sz="1480" u="none" cap="none" strike="noStrike">
              <a:solidFill>
                <a:schemeClr val="dk1"/>
              </a:solidFill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207008" y="2907792"/>
            <a:ext cx="82296" cy="82296"/>
          </a:xfrm>
          <a:prstGeom prst="ellipse">
            <a:avLst/>
          </a:prstGeom>
          <a:solidFill>
            <a:srgbClr val="C48F32"/>
          </a:solidFill>
          <a:ln cap="flat" cmpd="sng" w="12700">
            <a:solidFill>
              <a:srgbClr val="C48F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1371600" y="2862072"/>
            <a:ext cx="2167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1C"/>
              </a:buClr>
              <a:buSzPts val="1280"/>
              <a:buFont typeface="Arial"/>
              <a:buNone/>
            </a:pPr>
            <a:r>
              <a:rPr b="0" i="0" lang="en-US" sz="1480" u="none" cap="none" strike="noStrike">
                <a:solidFill>
                  <a:srgbClr val="14231C"/>
                </a:solidFill>
                <a:latin typeface="Arial"/>
                <a:ea typeface="Arial"/>
                <a:cs typeface="Arial"/>
                <a:sym typeface="Arial"/>
              </a:rPr>
              <a:t>Sectores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207008" y="3300984"/>
            <a:ext cx="82296" cy="82296"/>
          </a:xfrm>
          <a:prstGeom prst="ellipse">
            <a:avLst/>
          </a:prstGeom>
          <a:solidFill>
            <a:srgbClr val="C48F32"/>
          </a:solidFill>
          <a:ln cap="flat" cmpd="sng" w="12700">
            <a:solidFill>
              <a:srgbClr val="C48F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1371600" y="3209544"/>
            <a:ext cx="2167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1C"/>
              </a:buClr>
              <a:buSzPts val="1280"/>
              <a:buFont typeface="Arial"/>
              <a:buNone/>
            </a:pPr>
            <a:r>
              <a:rPr b="0" i="0" lang="en-US" sz="1480" u="none" cap="none" strike="noStrike">
                <a:solidFill>
                  <a:srgbClr val="14231C"/>
                </a:solidFill>
                <a:latin typeface="Arial"/>
                <a:ea typeface="Arial"/>
                <a:cs typeface="Arial"/>
                <a:sym typeface="Arial"/>
              </a:rPr>
              <a:t>Labores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207008" y="3694176"/>
            <a:ext cx="82296" cy="82296"/>
          </a:xfrm>
          <a:prstGeom prst="ellipse">
            <a:avLst/>
          </a:prstGeom>
          <a:solidFill>
            <a:srgbClr val="C48F32"/>
          </a:solidFill>
          <a:ln cap="flat" cmpd="sng" w="12700">
            <a:solidFill>
              <a:srgbClr val="C48F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1371600" y="3557016"/>
            <a:ext cx="2167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1C"/>
              </a:buClr>
              <a:buSzPts val="1280"/>
              <a:buFont typeface="Arial"/>
              <a:buNone/>
            </a:pPr>
            <a:r>
              <a:rPr b="0" i="0" lang="en-US" sz="1480" u="none" cap="none" strike="noStrike">
                <a:solidFill>
                  <a:srgbClr val="14231C"/>
                </a:solidFill>
                <a:latin typeface="Arial"/>
                <a:ea typeface="Arial"/>
                <a:cs typeface="Arial"/>
                <a:sym typeface="Arial"/>
              </a:rPr>
              <a:t>Jornadas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207008" y="4087368"/>
            <a:ext cx="82296" cy="82296"/>
          </a:xfrm>
          <a:prstGeom prst="ellipse">
            <a:avLst/>
          </a:prstGeom>
          <a:solidFill>
            <a:srgbClr val="C48F32"/>
          </a:solidFill>
          <a:ln cap="flat" cmpd="sng" w="12700">
            <a:solidFill>
              <a:srgbClr val="C48F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1371600" y="3904488"/>
            <a:ext cx="2167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1C"/>
              </a:buClr>
              <a:buSzPts val="1280"/>
              <a:buFont typeface="Arial"/>
              <a:buNone/>
            </a:pPr>
            <a:r>
              <a:rPr b="0" i="0" lang="en-US" sz="1480" u="none" cap="none" strike="noStrike">
                <a:solidFill>
                  <a:srgbClr val="14231C"/>
                </a:solidFill>
                <a:latin typeface="Arial"/>
                <a:ea typeface="Arial"/>
                <a:cs typeface="Arial"/>
                <a:sym typeface="Arial"/>
              </a:rPr>
              <a:t>Producción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251960" y="1481328"/>
            <a:ext cx="2907792" cy="4160520"/>
          </a:xfrm>
          <a:prstGeom prst="roundRect">
            <a:avLst>
              <a:gd fmla="val 2516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416552" y="1801368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Datos y trazabilidad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636008" y="2514600"/>
            <a:ext cx="82296" cy="82296"/>
          </a:xfrm>
          <a:prstGeom prst="ellipse">
            <a:avLst/>
          </a:prstGeom>
          <a:solidFill>
            <a:srgbClr val="C48F32"/>
          </a:solidFill>
          <a:ln cap="flat" cmpd="sng" w="12700">
            <a:solidFill>
              <a:srgbClr val="C48F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4800600" y="2514600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1C"/>
              </a:buClr>
              <a:buSzPts val="1280"/>
              <a:buFont typeface="Arial"/>
              <a:buNone/>
            </a:pPr>
            <a:r>
              <a:rPr b="0" i="0" lang="en-US" sz="1480" u="none" cap="none" strike="noStrike">
                <a:solidFill>
                  <a:srgbClr val="14231C"/>
                </a:solidFill>
                <a:latin typeface="Arial"/>
                <a:ea typeface="Arial"/>
                <a:cs typeface="Arial"/>
                <a:sym typeface="Arial"/>
              </a:rPr>
              <a:t>Importación Excel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636008" y="2907792"/>
            <a:ext cx="82296" cy="82296"/>
          </a:xfrm>
          <a:prstGeom prst="ellipse">
            <a:avLst/>
          </a:prstGeom>
          <a:solidFill>
            <a:srgbClr val="C48F32"/>
          </a:solidFill>
          <a:ln cap="flat" cmpd="sng" w="12700">
            <a:solidFill>
              <a:srgbClr val="C48F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800600" y="2862072"/>
            <a:ext cx="2167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1C"/>
              </a:buClr>
              <a:buSzPts val="1280"/>
              <a:buFont typeface="Arial"/>
              <a:buNone/>
            </a:pPr>
            <a:r>
              <a:rPr b="0" i="0" lang="en-US" sz="1480" u="none" cap="none" strike="noStrike">
                <a:solidFill>
                  <a:srgbClr val="14231C"/>
                </a:solidFill>
                <a:latin typeface="Arial"/>
                <a:ea typeface="Arial"/>
                <a:cs typeface="Arial"/>
                <a:sym typeface="Arial"/>
              </a:rPr>
              <a:t>Base histórica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636008" y="3300984"/>
            <a:ext cx="82296" cy="82296"/>
          </a:xfrm>
          <a:prstGeom prst="ellipse">
            <a:avLst/>
          </a:prstGeom>
          <a:solidFill>
            <a:srgbClr val="C48F32"/>
          </a:solidFill>
          <a:ln cap="flat" cmpd="sng" w="12700">
            <a:solidFill>
              <a:srgbClr val="C48F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800600" y="3209544"/>
            <a:ext cx="2167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1C"/>
              </a:buClr>
              <a:buSzPts val="1280"/>
              <a:buFont typeface="Arial"/>
              <a:buNone/>
            </a:pPr>
            <a:r>
              <a:rPr b="0" i="0" lang="en-US" sz="1480" u="none" cap="none" strike="noStrike">
                <a:solidFill>
                  <a:srgbClr val="14231C"/>
                </a:solidFill>
                <a:latin typeface="Arial"/>
                <a:ea typeface="Arial"/>
                <a:cs typeface="Arial"/>
                <a:sym typeface="Arial"/>
              </a:rPr>
              <a:t>Dataset limpio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636008" y="3694176"/>
            <a:ext cx="82296" cy="82296"/>
          </a:xfrm>
          <a:prstGeom prst="ellipse">
            <a:avLst/>
          </a:prstGeom>
          <a:solidFill>
            <a:srgbClr val="C48F32"/>
          </a:solidFill>
          <a:ln cap="flat" cmpd="sng" w="12700">
            <a:solidFill>
              <a:srgbClr val="C48F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4800600" y="3557016"/>
            <a:ext cx="2167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1C"/>
              </a:buClr>
              <a:buSzPts val="1280"/>
              <a:buFont typeface="Arial"/>
              <a:buNone/>
            </a:pPr>
            <a:r>
              <a:rPr b="0" i="0" lang="en-US" sz="1480" u="none" cap="none" strike="noStrike">
                <a:solidFill>
                  <a:srgbClr val="14231C"/>
                </a:solidFill>
                <a:latin typeface="Arial"/>
                <a:ea typeface="Arial"/>
                <a:cs typeface="Arial"/>
                <a:sym typeface="Arial"/>
              </a:rPr>
              <a:t>Consultas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636008" y="4087368"/>
            <a:ext cx="82296" cy="82296"/>
          </a:xfrm>
          <a:prstGeom prst="ellipse">
            <a:avLst/>
          </a:prstGeom>
          <a:solidFill>
            <a:srgbClr val="C48F32"/>
          </a:solidFill>
          <a:ln cap="flat" cmpd="sng" w="12700">
            <a:solidFill>
              <a:srgbClr val="C48F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4800600" y="3904488"/>
            <a:ext cx="2167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1C"/>
              </a:buClr>
              <a:buSzPts val="1280"/>
              <a:buFont typeface="Arial"/>
              <a:buNone/>
            </a:pPr>
            <a:r>
              <a:rPr b="0" i="0" lang="en-US" sz="1480" u="none" cap="none" strike="noStrike">
                <a:solidFill>
                  <a:srgbClr val="14231C"/>
                </a:solidFill>
                <a:latin typeface="Arial"/>
                <a:ea typeface="Arial"/>
                <a:cs typeface="Arial"/>
                <a:sym typeface="Arial"/>
              </a:rPr>
              <a:t>Reportes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7680960" y="1481328"/>
            <a:ext cx="2907792" cy="4160520"/>
          </a:xfrm>
          <a:prstGeom prst="roundRect">
            <a:avLst>
              <a:gd fmla="val 2516" name="adj"/>
            </a:avLst>
          </a:prstGeom>
          <a:solidFill>
            <a:srgbClr val="E5EEE1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845552" y="1801368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IA y decisión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8065008" y="2514600"/>
            <a:ext cx="82296" cy="82296"/>
          </a:xfrm>
          <a:prstGeom prst="ellipse">
            <a:avLst/>
          </a:prstGeom>
          <a:solidFill>
            <a:srgbClr val="2F5D3A"/>
          </a:solidFill>
          <a:ln cap="flat" cmpd="sng" w="12700">
            <a:solidFill>
              <a:srgbClr val="2F5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8229600" y="2514600"/>
            <a:ext cx="2167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3A"/>
              </a:buClr>
              <a:buSzPts val="1280"/>
              <a:buFont typeface="Arial"/>
              <a:buNone/>
            </a:pPr>
            <a:r>
              <a:rPr b="0" i="0" lang="en-US" sz="1480" u="none" cap="none" strike="noStrike">
                <a:solidFill>
                  <a:srgbClr val="2F5D3A"/>
                </a:solidFill>
                <a:latin typeface="Arial"/>
                <a:ea typeface="Arial"/>
                <a:cs typeface="Arial"/>
                <a:sym typeface="Arial"/>
              </a:rPr>
              <a:t>Rendimiento esperado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8065008" y="2907792"/>
            <a:ext cx="82296" cy="82296"/>
          </a:xfrm>
          <a:prstGeom prst="ellipse">
            <a:avLst/>
          </a:prstGeom>
          <a:solidFill>
            <a:srgbClr val="2F5D3A"/>
          </a:solidFill>
          <a:ln cap="flat" cmpd="sng" w="12700">
            <a:solidFill>
              <a:srgbClr val="2F5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8229600" y="2862072"/>
            <a:ext cx="2167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3A"/>
              </a:buClr>
              <a:buSzPts val="1280"/>
              <a:buFont typeface="Arial"/>
              <a:buNone/>
            </a:pPr>
            <a:r>
              <a:rPr b="0" i="0" lang="en-US" sz="1480" u="none" cap="none" strike="noStrike">
                <a:solidFill>
                  <a:srgbClr val="2F5D3A"/>
                </a:solidFill>
                <a:latin typeface="Arial"/>
                <a:ea typeface="Arial"/>
                <a:cs typeface="Arial"/>
                <a:sym typeface="Arial"/>
              </a:rPr>
              <a:t>Comparación real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8065008" y="3300984"/>
            <a:ext cx="82296" cy="82296"/>
          </a:xfrm>
          <a:prstGeom prst="ellipse">
            <a:avLst/>
          </a:prstGeom>
          <a:solidFill>
            <a:srgbClr val="2F5D3A"/>
          </a:solidFill>
          <a:ln cap="flat" cmpd="sng" w="12700">
            <a:solidFill>
              <a:srgbClr val="2F5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8229600" y="3209544"/>
            <a:ext cx="2167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3A"/>
              </a:buClr>
              <a:buSzPts val="1280"/>
              <a:buFont typeface="Arial"/>
              <a:buNone/>
            </a:pPr>
            <a:r>
              <a:rPr b="0" i="0" lang="en-US" sz="1480" u="none" cap="none" strike="noStrike">
                <a:solidFill>
                  <a:srgbClr val="2F5D3A"/>
                </a:solidFill>
                <a:latin typeface="Arial"/>
                <a:ea typeface="Arial"/>
                <a:cs typeface="Arial"/>
                <a:sym typeface="Arial"/>
              </a:rPr>
              <a:t>Tendencias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8065008" y="3694176"/>
            <a:ext cx="82296" cy="82296"/>
          </a:xfrm>
          <a:prstGeom prst="ellipse">
            <a:avLst/>
          </a:prstGeom>
          <a:solidFill>
            <a:srgbClr val="2F5D3A"/>
          </a:solidFill>
          <a:ln cap="flat" cmpd="sng" w="12700">
            <a:solidFill>
              <a:srgbClr val="2F5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8229600" y="3557016"/>
            <a:ext cx="2167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3A"/>
              </a:buClr>
              <a:buSzPts val="1280"/>
              <a:buFont typeface="Arial"/>
              <a:buNone/>
            </a:pPr>
            <a:r>
              <a:rPr b="0" i="0" lang="en-US" sz="1480" u="none" cap="none" strike="noStrike">
                <a:solidFill>
                  <a:srgbClr val="2F5D3A"/>
                </a:solidFill>
                <a:latin typeface="Arial"/>
                <a:ea typeface="Arial"/>
                <a:cs typeface="Arial"/>
                <a:sym typeface="Arial"/>
              </a:rPr>
              <a:t>Alertas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065008" y="4087368"/>
            <a:ext cx="82296" cy="82296"/>
          </a:xfrm>
          <a:prstGeom prst="ellipse">
            <a:avLst/>
          </a:prstGeom>
          <a:solidFill>
            <a:srgbClr val="2F5D3A"/>
          </a:solidFill>
          <a:ln cap="flat" cmpd="sng" w="12700">
            <a:solidFill>
              <a:srgbClr val="2F5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8229600" y="3904488"/>
            <a:ext cx="2167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3A"/>
              </a:buClr>
              <a:buSzPts val="1280"/>
              <a:buFont typeface="Arial"/>
              <a:buNone/>
            </a:pPr>
            <a:r>
              <a:rPr b="0" i="0" lang="en-US" sz="1480" u="none" cap="none" strike="noStrike">
                <a:solidFill>
                  <a:srgbClr val="2F5D3A"/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17C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17C"/>
                </a:solidFill>
                <a:latin typeface="Arial"/>
                <a:ea typeface="Arial"/>
                <a:cs typeface="Arial"/>
                <a:sym typeface="Arial"/>
              </a:rPr>
              <a:t>Solución de Gestión Administrativa para la Empresa Doña Laura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1375136" y="6455664"/>
            <a:ext cx="338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17C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7A817C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>
            <a:off x="594360" y="393192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2450"/>
              <a:buFont typeface="Play"/>
              <a:buNone/>
            </a:pPr>
            <a:r>
              <a:rPr b="1" i="0" lang="en-US" sz="2450" u="none" cap="none" strike="noStrike">
                <a:solidFill>
                  <a:srgbClr val="0A3A2A"/>
                </a:solidFill>
                <a:latin typeface="Play"/>
                <a:ea typeface="Play"/>
                <a:cs typeface="Play"/>
                <a:sym typeface="Play"/>
              </a:rPr>
              <a:t>7. Arquitectura propuesta</a:t>
            </a:r>
            <a:endParaRPr b="0" i="0" sz="2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12648" y="859536"/>
            <a:ext cx="9052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Separación por capas para facilitar mantenimiento, datos e integración con IA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749808" y="1783080"/>
            <a:ext cx="1536192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1005848" y="1929384"/>
            <a:ext cx="1353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250"/>
              <a:buFont typeface="Arial"/>
              <a:buNone/>
            </a:pPr>
            <a:r>
              <a:rPr b="1" i="0" lang="en-US" sz="17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841248" y="2185416"/>
            <a:ext cx="135331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encargado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2359152" y="2011680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8F3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48F3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2852928" y="1783080"/>
            <a:ext cx="1536192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2944375" y="1929374"/>
            <a:ext cx="1353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250"/>
              <a:buFont typeface="Arial"/>
              <a:buNone/>
            </a:pPr>
            <a:r>
              <a:rPr b="1" i="0" lang="en-US" sz="17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2944368" y="2185416"/>
            <a:ext cx="135331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462272" y="2011680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8F3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48F3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956048" y="1783080"/>
            <a:ext cx="1536192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5047488" y="1929384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250"/>
              <a:buFont typeface="Arial"/>
              <a:buNone/>
            </a:pPr>
            <a:r>
              <a:rPr b="1" i="0" lang="en-US" sz="17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5047488" y="2185416"/>
            <a:ext cx="135331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565392" y="2011680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8F3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48F3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7059168" y="1783080"/>
            <a:ext cx="1536192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7150608" y="1929384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250"/>
              <a:buFont typeface="Arial"/>
              <a:buNone/>
            </a:pPr>
            <a:r>
              <a:rPr b="1" i="0" lang="en-US" sz="17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BD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7150608" y="2185416"/>
            <a:ext cx="135331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668512" y="2011680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8F3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48F3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9162288" y="1783080"/>
            <a:ext cx="1536192" cy="749808"/>
          </a:xfrm>
          <a:prstGeom prst="roundRect">
            <a:avLst>
              <a:gd fmla="val 9756" name="adj"/>
            </a:avLst>
          </a:prstGeom>
          <a:solidFill>
            <a:srgbClr val="0A3A2A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9253728" y="1929384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9253728" y="2185416"/>
            <a:ext cx="135331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8DC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DDE8DC"/>
                </a:solidFill>
                <a:latin typeface="Arial"/>
                <a:ea typeface="Arial"/>
                <a:cs typeface="Arial"/>
                <a:sym typeface="Arial"/>
              </a:rPr>
              <a:t>indicadores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3794760" y="3456432"/>
            <a:ext cx="2514600" cy="1060704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3995928" y="3639312"/>
            <a:ext cx="21122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ETL / Importación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995928" y="4032504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60"/>
              <a:buFont typeface="Arial"/>
              <a:buNone/>
            </a:pPr>
            <a:r>
              <a:rPr b="0" i="0" lang="en-US" sz="106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Pandas para transformar planillas Excel en datos limpios.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492240" y="3822192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8F3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48F3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7178040" y="3456432"/>
            <a:ext cx="2606040" cy="1060704"/>
          </a:xfrm>
          <a:prstGeom prst="roundRect">
            <a:avLst>
              <a:gd fmla="val 6897" name="adj"/>
            </a:avLst>
          </a:prstGeom>
          <a:solidFill>
            <a:srgbClr val="E5EEE1"/>
          </a:solidFill>
          <a:ln cap="flat" cmpd="sng" w="12700">
            <a:solidFill>
              <a:srgbClr val="D9DDC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7379208" y="3639312"/>
            <a:ext cx="22037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Módulo IA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7379208" y="4032504"/>
            <a:ext cx="22037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60"/>
              <a:buFont typeface="Arial"/>
              <a:buNone/>
            </a:pPr>
            <a:r>
              <a:rPr b="0" i="0" lang="en-US" sz="106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Scikit-learn para entrenamiento, evaluación e integración.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417320" y="5349240"/>
            <a:ext cx="9281160" cy="658368"/>
          </a:xfrm>
          <a:prstGeom prst="roundRect">
            <a:avLst>
              <a:gd fmla="val 11111" name="adj"/>
            </a:avLst>
          </a:prstGeom>
          <a:solidFill>
            <a:srgbClr val="FAF8F3"/>
          </a:solidFill>
          <a:ln cap="flat" cmpd="sng" w="12700">
            <a:solidFill>
              <a:srgbClr val="D9DDC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1645920" y="5532120"/>
            <a:ext cx="8823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Tecnologías: React · FastAPI · PostgreSQL · Pandas · Scikit-learn · Docker · GitHub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17C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17C"/>
                </a:solidFill>
                <a:latin typeface="Arial"/>
                <a:ea typeface="Arial"/>
                <a:cs typeface="Arial"/>
                <a:sym typeface="Arial"/>
              </a:rPr>
              <a:t>Solución de Gestión Administrativa para la Empresa Doña Laura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11375136" y="6455664"/>
            <a:ext cx="338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17C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7A817C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8"/>
          <p:cNvCxnSpPr>
            <a:stCxn id="224" idx="3"/>
            <a:endCxn id="222" idx="0"/>
          </p:cNvCxnSpPr>
          <p:nvPr/>
        </p:nvCxnSpPr>
        <p:spPr>
          <a:xfrm flipH="1" rot="10800000">
            <a:off x="6108192" y="2185560"/>
            <a:ext cx="3822300" cy="1609200"/>
          </a:xfrm>
          <a:prstGeom prst="bentConnector4">
            <a:avLst>
              <a:gd fmla="val 18779" name="adj1"/>
              <a:gd fmla="val 5951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/>
          <p:nvPr/>
        </p:nvSpPr>
        <p:spPr>
          <a:xfrm>
            <a:off x="594360" y="393192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2450"/>
              <a:buFont typeface="Play"/>
              <a:buNone/>
            </a:pPr>
            <a:r>
              <a:rPr b="1" i="0" lang="en-US" sz="2450" u="none" cap="none" strike="noStrike">
                <a:solidFill>
                  <a:srgbClr val="0A3A2A"/>
                </a:solidFill>
                <a:latin typeface="Play"/>
                <a:ea typeface="Play"/>
                <a:cs typeface="Play"/>
                <a:sym typeface="Play"/>
              </a:rPr>
              <a:t>8. Metodología y plan</a:t>
            </a:r>
            <a:endParaRPr b="0" i="0" sz="2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12648" y="859536"/>
            <a:ext cx="9052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Scrum para construir el software + CRISP-DM para desarrollar la IA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822960" y="1481328"/>
            <a:ext cx="3657600" cy="1234440"/>
          </a:xfrm>
          <a:prstGeom prst="roundRect">
            <a:avLst>
              <a:gd fmla="val 5926" name="adj"/>
            </a:avLst>
          </a:prstGeom>
          <a:solidFill>
            <a:srgbClr val="E5EEE1"/>
          </a:solidFill>
          <a:ln cap="flat" cmpd="sng" w="12700">
            <a:solidFill>
              <a:srgbClr val="D9DDC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1024128" y="1664208"/>
            <a:ext cx="32552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50"/>
              <a:buFont typeface="Arial"/>
              <a:buNone/>
            </a:pPr>
            <a:r>
              <a:rPr b="1" i="0" lang="en-US" sz="17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Scrum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024128" y="2057400"/>
            <a:ext cx="3255264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60"/>
              <a:buFont typeface="Arial"/>
              <a:buNone/>
            </a:pPr>
            <a:r>
              <a:rPr b="0" i="0" lang="en-US" sz="106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Organiza el desarrollo en incrementos verificables: módulos, API, dashboard e integración. 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7315200" y="1481328"/>
            <a:ext cx="3886200" cy="1234440"/>
          </a:xfrm>
          <a:prstGeom prst="roundRect">
            <a:avLst>
              <a:gd fmla="val 5926" name="adj"/>
            </a:avLst>
          </a:prstGeom>
          <a:solidFill>
            <a:srgbClr val="EEE4D3"/>
          </a:solidFill>
          <a:ln cap="flat" cmpd="sng" w="12700">
            <a:solidFill>
              <a:srgbClr val="D9DDC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7516368" y="1664208"/>
            <a:ext cx="34838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50"/>
              <a:buFont typeface="Arial"/>
              <a:buNone/>
            </a:pPr>
            <a:r>
              <a:rPr b="1" i="0" lang="en-US" sz="175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CRISP-DM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7516368" y="2057400"/>
            <a:ext cx="3483864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60"/>
              <a:buFont typeface="Arial"/>
              <a:buNone/>
            </a:pPr>
            <a:r>
              <a:rPr b="0" i="0" lang="en-US" sz="106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Ordena el ciclo de datos: negocio, comprensión, preparación, modelado, evaluación e implementación.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58368" y="3767328"/>
            <a:ext cx="1170432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722375" y="3858774"/>
            <a:ext cx="1042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-US" sz="960">
                <a:solidFill>
                  <a:srgbClr val="0A3A2A"/>
                </a:solidFill>
              </a:rPr>
              <a:t>0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960"/>
              <a:buFont typeface="Arial"/>
              <a:buNone/>
            </a:pPr>
            <a:r>
              <a:rPr b="1" i="0" lang="en-US" sz="126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Negocio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2020824" y="3767328"/>
            <a:ext cx="1170432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2084832" y="3858768"/>
            <a:ext cx="10424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-US" sz="960">
                <a:solidFill>
                  <a:srgbClr val="0A3A2A"/>
                </a:solidFill>
              </a:rPr>
              <a:t>1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BD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3383280" y="3767328"/>
            <a:ext cx="1170432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3447288" y="3858768"/>
            <a:ext cx="10424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-US" sz="960">
                <a:solidFill>
                  <a:srgbClr val="0A3A2A"/>
                </a:solidFill>
              </a:rPr>
              <a:t>2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960"/>
              <a:buFont typeface="Arial"/>
              <a:buNone/>
            </a:pPr>
            <a:r>
              <a:rPr b="1" i="0" lang="en-US" sz="126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Gestión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4745736" y="3767328"/>
            <a:ext cx="1170432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4809744" y="3858768"/>
            <a:ext cx="10424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-US" sz="960">
                <a:solidFill>
                  <a:srgbClr val="0A3A2A"/>
                </a:solidFill>
              </a:rPr>
              <a:t>3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960"/>
              <a:buFont typeface="Arial"/>
              <a:buNone/>
            </a:pPr>
            <a:r>
              <a:rPr b="1" i="0" lang="en-US" sz="126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6108192" y="3767328"/>
            <a:ext cx="1170432" cy="603504"/>
          </a:xfrm>
          <a:prstGeom prst="roundRect">
            <a:avLst>
              <a:gd fmla="val 7576" name="adj"/>
            </a:avLst>
          </a:prstGeom>
          <a:solidFill>
            <a:srgbClr val="E5EEE1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6172200" y="3858768"/>
            <a:ext cx="10424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-US" sz="960">
                <a:solidFill>
                  <a:srgbClr val="0A3A2A"/>
                </a:solidFill>
              </a:rPr>
              <a:t>4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960"/>
              <a:buFont typeface="Arial"/>
              <a:buNone/>
            </a:pPr>
            <a:r>
              <a:rPr b="1" i="0" lang="en-US" sz="126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7470648" y="3767328"/>
            <a:ext cx="1170432" cy="603504"/>
          </a:xfrm>
          <a:prstGeom prst="roundRect">
            <a:avLst>
              <a:gd fmla="val 7576" name="adj"/>
            </a:avLst>
          </a:prstGeom>
          <a:solidFill>
            <a:srgbClr val="E5EEE1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7534656" y="3858768"/>
            <a:ext cx="10424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-US" sz="960">
                <a:solidFill>
                  <a:srgbClr val="0A3A2A"/>
                </a:solidFill>
              </a:rPr>
              <a:t>5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960"/>
              <a:buFont typeface="Arial"/>
              <a:buNone/>
            </a:pPr>
            <a:r>
              <a:rPr b="1" i="0" lang="en-US" sz="126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8833104" y="3767328"/>
            <a:ext cx="1170432" cy="603504"/>
          </a:xfrm>
          <a:prstGeom prst="roundRect">
            <a:avLst>
              <a:gd fmla="val 7576" name="adj"/>
            </a:avLst>
          </a:prstGeom>
          <a:solidFill>
            <a:srgbClr val="E5EEE1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8897100" y="3858774"/>
            <a:ext cx="1042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-US" sz="960">
                <a:solidFill>
                  <a:srgbClr val="0A3A2A"/>
                </a:solidFill>
              </a:rPr>
              <a:t>6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960"/>
              <a:buFont typeface="Arial"/>
              <a:buNone/>
            </a:pPr>
            <a:r>
              <a:rPr b="1" i="0" lang="en-US" sz="126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Integrar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0195560" y="3767328"/>
            <a:ext cx="1170432" cy="603504"/>
          </a:xfrm>
          <a:prstGeom prst="roundRect">
            <a:avLst>
              <a:gd fmla="val 7576" name="adj"/>
            </a:avLst>
          </a:prstGeom>
          <a:solidFill>
            <a:srgbClr val="E5EEE1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10259568" y="3858768"/>
            <a:ext cx="10424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-US" sz="960">
                <a:solidFill>
                  <a:srgbClr val="0A3A2A"/>
                </a:solidFill>
              </a:rPr>
              <a:t>7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960"/>
              <a:buFont typeface="Arial"/>
              <a:buNone/>
            </a:pPr>
            <a:r>
              <a:rPr b="1" i="0" lang="en-US" sz="126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2057400" y="5138928"/>
            <a:ext cx="8092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A3A2A"/>
                </a:solidFill>
              </a:rPr>
              <a:t>11</a:t>
            </a:r>
            <a:r>
              <a:rPr b="1" i="0" lang="en-US" sz="210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 semanas · 8 sprints · una evidencia concreta por avance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17C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17C"/>
                </a:solidFill>
                <a:latin typeface="Arial"/>
                <a:ea typeface="Arial"/>
                <a:cs typeface="Arial"/>
                <a:sym typeface="Arial"/>
              </a:rPr>
              <a:t>Solución de Gestión Administrativa para la Empresa Doña Laura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1375136" y="6455664"/>
            <a:ext cx="338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17C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7A817C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"/>
          <p:cNvSpPr/>
          <p:nvPr/>
        </p:nvSpPr>
        <p:spPr>
          <a:xfrm>
            <a:off x="594360" y="393192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2450"/>
              <a:buFont typeface="Play"/>
              <a:buNone/>
            </a:pPr>
            <a:r>
              <a:rPr b="1" i="0" lang="en-US" sz="2450" u="none" cap="none" strike="noStrike">
                <a:solidFill>
                  <a:srgbClr val="0A3A2A"/>
                </a:solidFill>
                <a:latin typeface="Play"/>
                <a:ea typeface="Play"/>
                <a:cs typeface="Play"/>
                <a:sym typeface="Play"/>
              </a:rPr>
              <a:t>9. Evidencias y resultado esperado</a:t>
            </a:r>
            <a:endParaRPr b="0" i="0" sz="2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612648" y="859536"/>
            <a:ext cx="9052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El proyecto debe demostrar software funcionando, datos tratados e IA evaluada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731520" y="1691640"/>
            <a:ext cx="1627632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822960" y="1920240"/>
            <a:ext cx="14447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270"/>
              <a:buFont typeface="Arial"/>
              <a:buNone/>
            </a:pPr>
            <a:r>
              <a:rPr b="1" lang="en-US" sz="1670">
                <a:solidFill>
                  <a:srgbClr val="0A3A2A"/>
                </a:solidFill>
              </a:rPr>
              <a:t>Sistema</a:t>
            </a:r>
            <a:endParaRPr b="0" i="0" sz="2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822960" y="2221992"/>
            <a:ext cx="14447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funcional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2606040" y="1691640"/>
            <a:ext cx="1627632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2697480" y="1920240"/>
            <a:ext cx="14447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270"/>
              <a:buFont typeface="Arial"/>
              <a:buNone/>
            </a:pPr>
            <a:r>
              <a:rPr b="1" i="0" lang="en-US" sz="167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b="0" i="0" sz="16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2697480" y="2221992"/>
            <a:ext cx="14447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implementada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4480560" y="1691640"/>
            <a:ext cx="1627632" cy="960120"/>
          </a:xfrm>
          <a:prstGeom prst="roundRect">
            <a:avLst>
              <a:gd fmla="val 7619" name="adj"/>
            </a:avLst>
          </a:prstGeom>
          <a:solidFill>
            <a:srgbClr val="E5EEE1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4572000" y="1920240"/>
            <a:ext cx="14447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270"/>
              <a:buFont typeface="Arial"/>
              <a:buNone/>
            </a:pPr>
            <a:r>
              <a:rPr b="1" i="0" lang="en-US" sz="177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b="0" i="0" sz="1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4572000" y="2221992"/>
            <a:ext cx="14447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limpio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6355080" y="1691640"/>
            <a:ext cx="1627632" cy="960120"/>
          </a:xfrm>
          <a:prstGeom prst="roundRect">
            <a:avLst>
              <a:gd fmla="val 7619" name="adj"/>
            </a:avLst>
          </a:prstGeom>
          <a:solidFill>
            <a:srgbClr val="E5EEE1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6446520" y="1920240"/>
            <a:ext cx="14447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270"/>
              <a:buFont typeface="Arial"/>
              <a:buNone/>
            </a:pPr>
            <a:r>
              <a:rPr b="1" i="0" lang="en-US" sz="177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Modelo ML</a:t>
            </a:r>
            <a:endParaRPr b="0" i="0" sz="1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6446520" y="2221992"/>
            <a:ext cx="14447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evaluado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8229600" y="1691640"/>
            <a:ext cx="1627632" cy="960120"/>
          </a:xfrm>
          <a:prstGeom prst="roundRect">
            <a:avLst>
              <a:gd fmla="val 7619" name="adj"/>
            </a:avLst>
          </a:prstGeom>
          <a:solidFill>
            <a:srgbClr val="E5EEE1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8321040" y="1920240"/>
            <a:ext cx="14447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270"/>
              <a:buFont typeface="Arial"/>
              <a:buNone/>
            </a:pPr>
            <a:r>
              <a:rPr b="1" i="0" lang="en-US" sz="177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1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8321040" y="2221992"/>
            <a:ext cx="14447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operativo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10104120" y="1691640"/>
            <a:ext cx="1627632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D9DDC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10195560" y="1920240"/>
            <a:ext cx="14447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270"/>
              <a:buFont typeface="Arial"/>
              <a:buNone/>
            </a:pPr>
            <a:r>
              <a:rPr b="1" i="0" lang="en-US" sz="167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endParaRPr b="0" i="0" sz="16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10195560" y="2221992"/>
            <a:ext cx="14447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6A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64706A"/>
                </a:solidFill>
                <a:latin typeface="Arial"/>
                <a:ea typeface="Arial"/>
                <a:cs typeface="Arial"/>
                <a:sym typeface="Arial"/>
              </a:rPr>
              <a:t>con usuarios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1143000" y="3858768"/>
            <a:ext cx="2834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F3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48F32"/>
                </a:solidFill>
                <a:latin typeface="Arial"/>
                <a:ea typeface="Arial"/>
                <a:cs typeface="Arial"/>
                <a:sym typeface="Arial"/>
              </a:rPr>
              <a:t>Resultado esperado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1143000" y="4187952"/>
            <a:ext cx="9921240" cy="941832"/>
          </a:xfrm>
          <a:prstGeom prst="roundRect">
            <a:avLst>
              <a:gd fmla="val 7767" name="adj"/>
            </a:avLst>
          </a:prstGeom>
          <a:solidFill>
            <a:srgbClr val="0A3A2A"/>
          </a:solidFill>
          <a:ln cap="flat" cmpd="sng" w="12700">
            <a:solidFill>
              <a:srgbClr val="0A3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1508760" y="4471416"/>
            <a:ext cx="918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0"/>
              <a:buFont typeface="Arial"/>
              <a:buNone/>
            </a:pPr>
            <a:r>
              <a:rPr b="1" i="0" lang="en-US" sz="15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Convertir datos de cosecha en indicadores de rendimiento para apoyar decisiones de asignación y continuidad de trabajadores.</a:t>
            </a: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343400" y="5806440"/>
            <a:ext cx="3474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A3A2A"/>
                </a:solidFill>
                <a:latin typeface="Arial"/>
                <a:ea typeface="Arial"/>
                <a:cs typeface="Arial"/>
                <a:sym typeface="Arial"/>
              </a:rPr>
              <a:t>Muchas gracias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17C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17C"/>
                </a:solidFill>
                <a:latin typeface="Arial"/>
                <a:ea typeface="Arial"/>
                <a:cs typeface="Arial"/>
                <a:sym typeface="Arial"/>
              </a:rPr>
              <a:t>Solución de Gestión Administrativa para la Empresa Doña Laura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11375136" y="6455664"/>
            <a:ext cx="338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17C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7A817C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2026-09-08T06:34:01Z</dcterms:created>
  <dc:creator>OpenAI</dc:creator>
</cp:coreProperties>
</file>